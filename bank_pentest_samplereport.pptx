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6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716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Shape 1"/>
          <p:cNvSpPr/>
          <p:nvPr/>
        </p:nvSpPr>
        <p:spPr>
          <a:xfrm>
            <a:off x="0" y="64008"/>
            <a:ext cx="3840480" cy="5079492"/>
          </a:xfrm>
          <a:prstGeom prst="rect">
            <a:avLst/>
          </a:prstGeom>
          <a:solidFill>
            <a:srgbClr val="112240"/>
          </a:solidFill>
          <a:ln w="12700">
            <a:solidFill>
              <a:srgbClr val="112240"/>
            </a:solidFill>
            <a:prstDash val="solid"/>
          </a:ln>
        </p:spPr>
        <p:txBody>
          <a:bodyPr/>
          <a:lstStyle/>
          <a:p>
            <a:endParaRPr lang="en-GB"/>
          </a:p>
        </p:txBody>
      </p:sp>
      <p:sp>
        <p:nvSpPr>
          <p:cNvPr id="4" name="Shape 2"/>
          <p:cNvSpPr/>
          <p:nvPr/>
        </p:nvSpPr>
        <p:spPr>
          <a:xfrm>
            <a:off x="365760" y="320040"/>
            <a:ext cx="2194560" cy="274320"/>
          </a:xfrm>
          <a:prstGeom prst="rect">
            <a:avLst/>
          </a:prstGeom>
          <a:solidFill>
            <a:srgbClr val="0B1628"/>
          </a:solidFill>
          <a:ln w="12700">
            <a:solidFill>
              <a:srgbClr val="C9952A"/>
            </a:solidFill>
            <a:prstDash val="solid"/>
          </a:ln>
        </p:spPr>
        <p:txBody>
          <a:bodyPr/>
          <a:lstStyle/>
          <a:p>
            <a:endParaRPr lang="en-GB"/>
          </a:p>
        </p:txBody>
      </p:sp>
      <p:sp>
        <p:nvSpPr>
          <p:cNvPr id="5" name="Text 3"/>
          <p:cNvSpPr/>
          <p:nvPr/>
        </p:nvSpPr>
        <p:spPr>
          <a:xfrm>
            <a:off x="365760" y="320040"/>
            <a:ext cx="2194560" cy="274320"/>
          </a:xfrm>
          <a:prstGeom prst="rect">
            <a:avLst/>
          </a:prstGeom>
          <a:noFill/>
          <a:ln/>
        </p:spPr>
        <p:txBody>
          <a:bodyPr wrap="square" rtlCol="0" anchor="ctr"/>
          <a:lstStyle/>
          <a:p>
            <a:pPr marL="0" indent="0" algn="ctr">
              <a:buNone/>
            </a:pPr>
            <a:r>
              <a:rPr lang="en-US" sz="700" b="1" kern="0" spc="150" dirty="0">
                <a:solidFill>
                  <a:srgbClr val="C9952A"/>
                </a:solidFill>
              </a:rPr>
              <a:t>CONFIDENTIAL — SAMPLE REPORT</a:t>
            </a:r>
            <a:endParaRPr lang="en-US" sz="700" dirty="0"/>
          </a:p>
        </p:txBody>
      </p:sp>
      <p:sp>
        <p:nvSpPr>
          <p:cNvPr id="6" name="Text 4"/>
          <p:cNvSpPr/>
          <p:nvPr/>
        </p:nvSpPr>
        <p:spPr>
          <a:xfrm>
            <a:off x="365760" y="868680"/>
            <a:ext cx="3200400" cy="256032"/>
          </a:xfrm>
          <a:prstGeom prst="rect">
            <a:avLst/>
          </a:prstGeom>
          <a:noFill/>
          <a:ln/>
        </p:spPr>
        <p:txBody>
          <a:bodyPr wrap="square" rtlCol="0" anchor="ctr"/>
          <a:lstStyle/>
          <a:p>
            <a:pPr marL="0" indent="0">
              <a:buNone/>
            </a:pPr>
            <a:r>
              <a:rPr lang="en-US" sz="900" b="1" kern="0" spc="300" dirty="0">
                <a:solidFill>
                  <a:srgbClr val="E8B84B"/>
                </a:solidFill>
              </a:rPr>
              <a:t>Confidential Financial Institution</a:t>
            </a:r>
            <a:endParaRPr lang="en-US" sz="900" dirty="0"/>
          </a:p>
        </p:txBody>
      </p:sp>
      <p:sp>
        <p:nvSpPr>
          <p:cNvPr id="7" name="Shape 5"/>
          <p:cNvSpPr/>
          <p:nvPr/>
        </p:nvSpPr>
        <p:spPr>
          <a:xfrm>
            <a:off x="365760" y="1161288"/>
            <a:ext cx="3108960" cy="16459"/>
          </a:xfrm>
          <a:prstGeom prst="rect">
            <a:avLst/>
          </a:prstGeom>
          <a:solidFill>
            <a:srgbClr val="C9952A"/>
          </a:solidFill>
          <a:ln w="12700">
            <a:solidFill>
              <a:srgbClr val="C9952A"/>
            </a:solidFill>
            <a:prstDash val="solid"/>
          </a:ln>
        </p:spPr>
        <p:txBody>
          <a:bodyPr/>
          <a:lstStyle/>
          <a:p>
            <a:endParaRPr lang="en-GB"/>
          </a:p>
        </p:txBody>
      </p:sp>
      <p:sp>
        <p:nvSpPr>
          <p:cNvPr id="8" name="Text 6"/>
          <p:cNvSpPr/>
          <p:nvPr/>
        </p:nvSpPr>
        <p:spPr>
          <a:xfrm>
            <a:off x="365760" y="1298448"/>
            <a:ext cx="3200400" cy="1417320"/>
          </a:xfrm>
          <a:prstGeom prst="rect">
            <a:avLst/>
          </a:prstGeom>
          <a:noFill/>
          <a:ln/>
        </p:spPr>
        <p:txBody>
          <a:bodyPr wrap="square" rtlCol="0" anchor="ctr"/>
          <a:lstStyle/>
          <a:p>
            <a:pPr marL="0" indent="0">
              <a:lnSpc>
                <a:spcPct val="105000"/>
              </a:lnSpc>
              <a:buNone/>
            </a:pPr>
            <a:r>
              <a:rPr lang="en-US" sz="3600" b="1" dirty="0">
                <a:solidFill>
                  <a:srgbClr val="EEE8D8"/>
                </a:solidFill>
                <a:latin typeface="Georgia" pitchFamily="34" charset="0"/>
                <a:ea typeface="Georgia" pitchFamily="34" charset="-122"/>
                <a:cs typeface="Georgia" pitchFamily="34" charset="-120"/>
              </a:rPr>
              <a:t>Penetration</a:t>
            </a:r>
            <a:endParaRPr lang="en-US" sz="3600" dirty="0"/>
          </a:p>
          <a:p>
            <a:pPr marL="0" indent="0">
              <a:lnSpc>
                <a:spcPct val="105000"/>
              </a:lnSpc>
              <a:buNone/>
            </a:pPr>
            <a:r>
              <a:rPr lang="en-US" sz="3600" b="1" dirty="0">
                <a:solidFill>
                  <a:srgbClr val="EEE8D8"/>
                </a:solidFill>
                <a:latin typeface="Georgia" pitchFamily="34" charset="0"/>
                <a:ea typeface="Georgia" pitchFamily="34" charset="-122"/>
                <a:cs typeface="Georgia" pitchFamily="34" charset="-120"/>
              </a:rPr>
              <a:t>Test</a:t>
            </a:r>
            <a:endParaRPr lang="en-US" sz="3600" dirty="0"/>
          </a:p>
        </p:txBody>
      </p:sp>
      <p:sp>
        <p:nvSpPr>
          <p:cNvPr id="9" name="Text 7"/>
          <p:cNvSpPr/>
          <p:nvPr/>
        </p:nvSpPr>
        <p:spPr>
          <a:xfrm>
            <a:off x="365760" y="2743200"/>
            <a:ext cx="3200400" cy="594360"/>
          </a:xfrm>
          <a:prstGeom prst="rect">
            <a:avLst/>
          </a:prstGeom>
          <a:noFill/>
          <a:ln/>
        </p:spPr>
        <p:txBody>
          <a:bodyPr wrap="square" rtlCol="0" anchor="ctr"/>
          <a:lstStyle/>
          <a:p>
            <a:pPr marL="0" indent="0">
              <a:buNone/>
            </a:pPr>
            <a:r>
              <a:rPr lang="en-US" sz="3600" b="1" dirty="0">
                <a:solidFill>
                  <a:srgbClr val="C9952A"/>
                </a:solidFill>
                <a:latin typeface="Georgia" pitchFamily="34" charset="0"/>
                <a:ea typeface="Georgia" pitchFamily="34" charset="-122"/>
                <a:cs typeface="Georgia" pitchFamily="34" charset="-120"/>
              </a:rPr>
              <a:t>Report</a:t>
            </a:r>
            <a:endParaRPr lang="en-US" sz="3600" dirty="0"/>
          </a:p>
        </p:txBody>
      </p:sp>
      <p:sp>
        <p:nvSpPr>
          <p:cNvPr id="10" name="Text 8"/>
          <p:cNvSpPr/>
          <p:nvPr/>
        </p:nvSpPr>
        <p:spPr>
          <a:xfrm>
            <a:off x="365760" y="3584448"/>
            <a:ext cx="3200400" cy="685800"/>
          </a:xfrm>
          <a:prstGeom prst="rect">
            <a:avLst/>
          </a:prstGeom>
          <a:noFill/>
          <a:ln/>
        </p:spPr>
        <p:txBody>
          <a:bodyPr wrap="square" rtlCol="0" anchor="ctr"/>
          <a:lstStyle/>
          <a:p>
            <a:pPr marL="0" indent="0">
              <a:lnSpc>
                <a:spcPct val="160000"/>
              </a:lnSpc>
              <a:buNone/>
            </a:pPr>
            <a:r>
              <a:rPr lang="en-US" sz="950" dirty="0">
                <a:solidFill>
                  <a:srgbClr val="8A8A9A"/>
                </a:solidFill>
              </a:rPr>
              <a:t>External Infrastructure · Web Applications</a:t>
            </a:r>
            <a:endParaRPr lang="en-US" sz="950" dirty="0"/>
          </a:p>
          <a:p>
            <a:pPr marL="0" indent="0">
              <a:lnSpc>
                <a:spcPct val="160000"/>
              </a:lnSpc>
              <a:buNone/>
            </a:pPr>
            <a:r>
              <a:rPr lang="en-US" sz="950" dirty="0">
                <a:solidFill>
                  <a:srgbClr val="8A8A9A"/>
                </a:solidFill>
              </a:rPr>
              <a:t>Active Directory · Swift/SWIFT CSP Compliance</a:t>
            </a:r>
            <a:endParaRPr lang="en-US" sz="950" dirty="0"/>
          </a:p>
        </p:txBody>
      </p:sp>
      <p:sp>
        <p:nvSpPr>
          <p:cNvPr id="11" name="Text 9"/>
          <p:cNvSpPr/>
          <p:nvPr/>
        </p:nvSpPr>
        <p:spPr>
          <a:xfrm>
            <a:off x="4206240" y="347472"/>
            <a:ext cx="4572000" cy="201168"/>
          </a:xfrm>
          <a:prstGeom prst="rect">
            <a:avLst/>
          </a:prstGeom>
          <a:noFill/>
          <a:ln/>
        </p:spPr>
        <p:txBody>
          <a:bodyPr wrap="square" rtlCol="0" anchor="ctr"/>
          <a:lstStyle/>
          <a:p>
            <a:pPr marL="0" indent="0">
              <a:buNone/>
            </a:pPr>
            <a:r>
              <a:rPr lang="en-US" sz="750" kern="0" spc="200" dirty="0">
                <a:solidFill>
                  <a:srgbClr val="8A8A9A"/>
                </a:solidFill>
              </a:rPr>
              <a:t>ENGAGEMENT REFERENCE</a:t>
            </a:r>
            <a:endParaRPr lang="en-US" sz="750" dirty="0"/>
          </a:p>
        </p:txBody>
      </p:sp>
      <p:sp>
        <p:nvSpPr>
          <p:cNvPr id="12" name="Text 10"/>
          <p:cNvSpPr/>
          <p:nvPr/>
        </p:nvSpPr>
        <p:spPr>
          <a:xfrm>
            <a:off x="4206240" y="548640"/>
            <a:ext cx="4572000" cy="292608"/>
          </a:xfrm>
          <a:prstGeom prst="rect">
            <a:avLst/>
          </a:prstGeom>
          <a:noFill/>
          <a:ln/>
        </p:spPr>
        <p:txBody>
          <a:bodyPr wrap="square" rtlCol="0" anchor="ctr"/>
          <a:lstStyle/>
          <a:p>
            <a:pPr marL="0" indent="0">
              <a:buNone/>
            </a:pPr>
            <a:r>
              <a:rPr lang="en-US" sz="2000" b="1" dirty="0">
                <a:solidFill>
                  <a:srgbClr val="EEE8D8"/>
                </a:solidFill>
                <a:latin typeface="Georgia" pitchFamily="34" charset="0"/>
                <a:ea typeface="Georgia" pitchFamily="34" charset="-122"/>
                <a:cs typeface="Georgia" pitchFamily="34" charset="-120"/>
              </a:rPr>
              <a:t>PT-2026-001</a:t>
            </a:r>
            <a:endParaRPr lang="en-US" sz="2000" dirty="0"/>
          </a:p>
        </p:txBody>
      </p:sp>
      <p:sp>
        <p:nvSpPr>
          <p:cNvPr id="13" name="Shape 11"/>
          <p:cNvSpPr/>
          <p:nvPr/>
        </p:nvSpPr>
        <p:spPr>
          <a:xfrm>
            <a:off x="4206240" y="987552"/>
            <a:ext cx="4663440" cy="13716"/>
          </a:xfrm>
          <a:prstGeom prst="rect">
            <a:avLst/>
          </a:prstGeom>
          <a:solidFill>
            <a:srgbClr val="2A3045"/>
          </a:solidFill>
          <a:ln w="12700">
            <a:solidFill>
              <a:srgbClr val="2A3045"/>
            </a:solidFill>
            <a:prstDash val="solid"/>
          </a:ln>
        </p:spPr>
        <p:txBody>
          <a:bodyPr/>
          <a:lstStyle/>
          <a:p>
            <a:endParaRPr lang="en-GB"/>
          </a:p>
        </p:txBody>
      </p:sp>
      <p:sp>
        <p:nvSpPr>
          <p:cNvPr id="14" name="Text 12"/>
          <p:cNvSpPr/>
          <p:nvPr/>
        </p:nvSpPr>
        <p:spPr>
          <a:xfrm>
            <a:off x="4206240" y="1115568"/>
            <a:ext cx="2011680" cy="201168"/>
          </a:xfrm>
          <a:prstGeom prst="rect">
            <a:avLst/>
          </a:prstGeom>
          <a:noFill/>
          <a:ln/>
        </p:spPr>
        <p:txBody>
          <a:bodyPr wrap="square" rtlCol="0" anchor="ctr"/>
          <a:lstStyle/>
          <a:p>
            <a:pPr marL="0" indent="0">
              <a:buNone/>
            </a:pPr>
            <a:r>
              <a:rPr lang="en-US" sz="750" kern="0" spc="180" dirty="0">
                <a:solidFill>
                  <a:srgbClr val="8A8A9A"/>
                </a:solidFill>
              </a:rPr>
              <a:t>CLIENT</a:t>
            </a:r>
            <a:endParaRPr lang="en-US" sz="750" dirty="0"/>
          </a:p>
        </p:txBody>
      </p:sp>
      <p:sp>
        <p:nvSpPr>
          <p:cNvPr id="15" name="Text 13"/>
          <p:cNvSpPr/>
          <p:nvPr/>
        </p:nvSpPr>
        <p:spPr>
          <a:xfrm>
            <a:off x="4206240" y="1335024"/>
            <a:ext cx="4572000" cy="228600"/>
          </a:xfrm>
          <a:prstGeom prst="rect">
            <a:avLst/>
          </a:prstGeom>
          <a:noFill/>
          <a:ln/>
        </p:spPr>
        <p:txBody>
          <a:bodyPr wrap="square" rtlCol="0" anchor="ctr"/>
          <a:lstStyle/>
          <a:p>
            <a:pPr marL="0" indent="0">
              <a:buNone/>
            </a:pPr>
            <a:r>
              <a:rPr lang="en-US" sz="1100" b="1" dirty="0">
                <a:solidFill>
                  <a:srgbClr val="EEE8D8"/>
                </a:solidFill>
              </a:rPr>
              <a:t>Confidential Financial Institution</a:t>
            </a:r>
            <a:endParaRPr lang="en-US" sz="1100" dirty="0"/>
          </a:p>
        </p:txBody>
      </p:sp>
      <p:sp>
        <p:nvSpPr>
          <p:cNvPr id="16" name="Text 14"/>
          <p:cNvSpPr/>
          <p:nvPr/>
        </p:nvSpPr>
        <p:spPr>
          <a:xfrm>
            <a:off x="4206240" y="1664208"/>
            <a:ext cx="2011680" cy="201168"/>
          </a:xfrm>
          <a:prstGeom prst="rect">
            <a:avLst/>
          </a:prstGeom>
          <a:noFill/>
          <a:ln/>
        </p:spPr>
        <p:txBody>
          <a:bodyPr wrap="square" rtlCol="0" anchor="ctr"/>
          <a:lstStyle/>
          <a:p>
            <a:pPr marL="0" indent="0">
              <a:buNone/>
            </a:pPr>
            <a:r>
              <a:rPr lang="en-US" sz="750" kern="0" spc="180" dirty="0">
                <a:solidFill>
                  <a:srgbClr val="8A8A9A"/>
                </a:solidFill>
              </a:rPr>
              <a:t>TEST WINDOW</a:t>
            </a:r>
            <a:endParaRPr lang="en-US" sz="750" dirty="0"/>
          </a:p>
        </p:txBody>
      </p:sp>
      <p:sp>
        <p:nvSpPr>
          <p:cNvPr id="17" name="Text 15"/>
          <p:cNvSpPr/>
          <p:nvPr/>
        </p:nvSpPr>
        <p:spPr>
          <a:xfrm>
            <a:off x="4206240" y="1883664"/>
            <a:ext cx="4572000" cy="228600"/>
          </a:xfrm>
          <a:prstGeom prst="rect">
            <a:avLst/>
          </a:prstGeom>
          <a:noFill/>
          <a:ln/>
        </p:spPr>
        <p:txBody>
          <a:bodyPr wrap="square" rtlCol="0" anchor="ctr"/>
          <a:lstStyle/>
          <a:p>
            <a:pPr marL="0" indent="0">
              <a:buNone/>
            </a:pPr>
            <a:r>
              <a:rPr lang="en-US" sz="1100" b="1" dirty="0">
                <a:solidFill>
                  <a:srgbClr val="EEE8D8"/>
                </a:solidFill>
              </a:rPr>
              <a:t>02 Feb – 28 Feb 2026</a:t>
            </a:r>
            <a:endParaRPr lang="en-US" sz="1100" dirty="0"/>
          </a:p>
        </p:txBody>
      </p:sp>
      <p:sp>
        <p:nvSpPr>
          <p:cNvPr id="18" name="Text 16"/>
          <p:cNvSpPr/>
          <p:nvPr/>
        </p:nvSpPr>
        <p:spPr>
          <a:xfrm>
            <a:off x="4206240" y="2212848"/>
            <a:ext cx="2011680" cy="201168"/>
          </a:xfrm>
          <a:prstGeom prst="rect">
            <a:avLst/>
          </a:prstGeom>
          <a:noFill/>
          <a:ln/>
        </p:spPr>
        <p:txBody>
          <a:bodyPr wrap="square" rtlCol="0" anchor="ctr"/>
          <a:lstStyle/>
          <a:p>
            <a:pPr marL="0" indent="0">
              <a:buNone/>
            </a:pPr>
            <a:r>
              <a:rPr lang="en-US" sz="750" kern="0" spc="180" dirty="0">
                <a:solidFill>
                  <a:srgbClr val="8A8A9A"/>
                </a:solidFill>
              </a:rPr>
              <a:t>PREPARED FOR</a:t>
            </a:r>
            <a:endParaRPr lang="en-US" sz="750" dirty="0"/>
          </a:p>
        </p:txBody>
      </p:sp>
      <p:sp>
        <p:nvSpPr>
          <p:cNvPr id="19" name="Text 17"/>
          <p:cNvSpPr/>
          <p:nvPr/>
        </p:nvSpPr>
        <p:spPr>
          <a:xfrm>
            <a:off x="4206240" y="2432304"/>
            <a:ext cx="4572000" cy="228600"/>
          </a:xfrm>
          <a:prstGeom prst="rect">
            <a:avLst/>
          </a:prstGeom>
          <a:noFill/>
          <a:ln/>
        </p:spPr>
        <p:txBody>
          <a:bodyPr wrap="square" rtlCol="0" anchor="ctr"/>
          <a:lstStyle/>
          <a:p>
            <a:pPr marL="0" indent="0">
              <a:buNone/>
            </a:pPr>
            <a:r>
              <a:rPr lang="en-US" sz="1100" b="1" dirty="0">
                <a:solidFill>
                  <a:srgbClr val="EEE8D8"/>
                </a:solidFill>
              </a:rPr>
              <a:t>Group CISO &amp; Audit Committee</a:t>
            </a:r>
            <a:endParaRPr lang="en-US" sz="1100" dirty="0"/>
          </a:p>
        </p:txBody>
      </p:sp>
      <p:sp>
        <p:nvSpPr>
          <p:cNvPr id="20" name="Text 18"/>
          <p:cNvSpPr/>
          <p:nvPr/>
        </p:nvSpPr>
        <p:spPr>
          <a:xfrm>
            <a:off x="4206240" y="2761488"/>
            <a:ext cx="2011680" cy="201168"/>
          </a:xfrm>
          <a:prstGeom prst="rect">
            <a:avLst/>
          </a:prstGeom>
          <a:noFill/>
          <a:ln/>
        </p:spPr>
        <p:txBody>
          <a:bodyPr wrap="square" rtlCol="0" anchor="ctr"/>
          <a:lstStyle/>
          <a:p>
            <a:pPr marL="0" indent="0">
              <a:buNone/>
            </a:pPr>
            <a:r>
              <a:rPr lang="en-US" sz="750" kern="0" spc="180" dirty="0">
                <a:solidFill>
                  <a:srgbClr val="8A8A9A"/>
                </a:solidFill>
              </a:rPr>
              <a:t>CLASSIFICATION</a:t>
            </a:r>
            <a:endParaRPr lang="en-US" sz="750" dirty="0"/>
          </a:p>
        </p:txBody>
      </p:sp>
      <p:sp>
        <p:nvSpPr>
          <p:cNvPr id="21" name="Text 19"/>
          <p:cNvSpPr/>
          <p:nvPr/>
        </p:nvSpPr>
        <p:spPr>
          <a:xfrm>
            <a:off x="4206240" y="2980944"/>
            <a:ext cx="4572000" cy="228600"/>
          </a:xfrm>
          <a:prstGeom prst="rect">
            <a:avLst/>
          </a:prstGeom>
          <a:noFill/>
          <a:ln/>
        </p:spPr>
        <p:txBody>
          <a:bodyPr wrap="square" rtlCol="0" anchor="ctr"/>
          <a:lstStyle/>
          <a:p>
            <a:pPr marL="0" indent="0">
              <a:buNone/>
            </a:pPr>
            <a:r>
              <a:rPr lang="en-US" sz="1100" b="1" dirty="0">
                <a:solidFill>
                  <a:srgbClr val="EEE8D8"/>
                </a:solidFill>
              </a:rPr>
              <a:t>CONFIDENTIAL — SAMPLE REPORT</a:t>
            </a:r>
            <a:endParaRPr lang="en-US" sz="1100" dirty="0"/>
          </a:p>
        </p:txBody>
      </p:sp>
      <p:sp>
        <p:nvSpPr>
          <p:cNvPr id="22" name="Text 20"/>
          <p:cNvSpPr/>
          <p:nvPr/>
        </p:nvSpPr>
        <p:spPr>
          <a:xfrm>
            <a:off x="4206240" y="3310128"/>
            <a:ext cx="2011680" cy="201168"/>
          </a:xfrm>
          <a:prstGeom prst="rect">
            <a:avLst/>
          </a:prstGeom>
          <a:noFill/>
          <a:ln/>
        </p:spPr>
        <p:txBody>
          <a:bodyPr wrap="square" rtlCol="0" anchor="ctr"/>
          <a:lstStyle/>
          <a:p>
            <a:pPr marL="0" indent="0">
              <a:buNone/>
            </a:pPr>
            <a:r>
              <a:rPr lang="en-US" sz="750" kern="0" spc="180" dirty="0">
                <a:solidFill>
                  <a:srgbClr val="8A8A9A"/>
                </a:solidFill>
              </a:rPr>
              <a:t>ASSESSOR FIRM</a:t>
            </a:r>
            <a:endParaRPr lang="en-US" sz="750" dirty="0"/>
          </a:p>
        </p:txBody>
      </p:sp>
      <p:sp>
        <p:nvSpPr>
          <p:cNvPr id="23" name="Text 21"/>
          <p:cNvSpPr/>
          <p:nvPr/>
        </p:nvSpPr>
        <p:spPr>
          <a:xfrm>
            <a:off x="4206240" y="3529584"/>
            <a:ext cx="4572000" cy="228600"/>
          </a:xfrm>
          <a:prstGeom prst="rect">
            <a:avLst/>
          </a:prstGeom>
          <a:noFill/>
          <a:ln/>
        </p:spPr>
        <p:txBody>
          <a:bodyPr wrap="square" rtlCol="0" anchor="ctr"/>
          <a:lstStyle/>
          <a:p>
            <a:pPr marL="0" indent="0">
              <a:buNone/>
            </a:pPr>
            <a:r>
              <a:rPr lang="en-US" sz="1100" b="1" dirty="0">
                <a:solidFill>
                  <a:srgbClr val="EEE8D8"/>
                </a:solidFill>
              </a:rPr>
              <a:t>Independent Security Consultancy</a:t>
            </a:r>
            <a:endParaRPr lang="en-US" sz="1100" dirty="0"/>
          </a:p>
        </p:txBody>
      </p:sp>
      <p:sp>
        <p:nvSpPr>
          <p:cNvPr id="24" name="Text 22"/>
          <p:cNvSpPr/>
          <p:nvPr/>
        </p:nvSpPr>
        <p:spPr>
          <a:xfrm>
            <a:off x="4206240" y="3858768"/>
            <a:ext cx="2011680" cy="201168"/>
          </a:xfrm>
          <a:prstGeom prst="rect">
            <a:avLst/>
          </a:prstGeom>
          <a:noFill/>
          <a:ln/>
        </p:spPr>
        <p:txBody>
          <a:bodyPr wrap="square" rtlCol="0" anchor="ctr"/>
          <a:lstStyle/>
          <a:p>
            <a:pPr marL="0" indent="0">
              <a:buNone/>
            </a:pPr>
            <a:r>
              <a:rPr lang="en-US" sz="750" kern="0" spc="180" dirty="0">
                <a:solidFill>
                  <a:srgbClr val="8A8A9A"/>
                </a:solidFill>
              </a:rPr>
              <a:t>REPORT VERSION</a:t>
            </a:r>
            <a:endParaRPr lang="en-US" sz="750" dirty="0"/>
          </a:p>
        </p:txBody>
      </p:sp>
      <p:sp>
        <p:nvSpPr>
          <p:cNvPr id="25" name="Text 23"/>
          <p:cNvSpPr/>
          <p:nvPr/>
        </p:nvSpPr>
        <p:spPr>
          <a:xfrm>
            <a:off x="4206240" y="4078224"/>
            <a:ext cx="4572000" cy="228600"/>
          </a:xfrm>
          <a:prstGeom prst="rect">
            <a:avLst/>
          </a:prstGeom>
          <a:noFill/>
          <a:ln/>
        </p:spPr>
        <p:txBody>
          <a:bodyPr wrap="square" rtlCol="0" anchor="ctr"/>
          <a:lstStyle/>
          <a:p>
            <a:pPr marL="0" indent="0">
              <a:buNone/>
            </a:pPr>
            <a:r>
              <a:rPr lang="en-US" sz="1100" b="1" dirty="0">
                <a:solidFill>
                  <a:srgbClr val="EEE8D8"/>
                </a:solidFill>
              </a:rPr>
              <a:t>2.0 — Final</a:t>
            </a:r>
            <a:endParaRPr lang="en-US" sz="1100" dirty="0"/>
          </a:p>
        </p:txBody>
      </p:sp>
      <p:sp>
        <p:nvSpPr>
          <p:cNvPr id="26" name="Shape 24"/>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01  EXECUTIVE SUMMARY</a:t>
            </a:r>
            <a:endParaRPr lang="en-US" sz="800" dirty="0"/>
          </a:p>
        </p:txBody>
      </p:sp>
      <p:sp>
        <p:nvSpPr>
          <p:cNvPr id="4" name="Text 2"/>
          <p:cNvSpPr/>
          <p:nvPr/>
        </p:nvSpPr>
        <p:spPr>
          <a:xfrm>
            <a:off x="411480" y="402336"/>
            <a:ext cx="8412480" cy="658368"/>
          </a:xfrm>
          <a:prstGeom prst="rect">
            <a:avLst/>
          </a:prstGeom>
          <a:noFill/>
          <a:ln/>
        </p:spPr>
        <p:txBody>
          <a:bodyPr wrap="square" rtlCol="0" anchor="ctr"/>
          <a:lstStyle/>
          <a:p>
            <a:pPr marL="0" indent="0">
              <a:lnSpc>
                <a:spcPct val="120000"/>
              </a:lnSpc>
              <a:buNone/>
            </a:pPr>
            <a:r>
              <a:rPr lang="en-US" sz="1600" b="1" dirty="0">
                <a:solidFill>
                  <a:srgbClr val="EEE8D8"/>
                </a:solidFill>
                <a:latin typeface="Georgia" pitchFamily="34" charset="0"/>
                <a:ea typeface="Georgia" pitchFamily="34" charset="-122"/>
                <a:cs typeface="Georgia" pitchFamily="34" charset="-120"/>
              </a:rPr>
              <a:t>An attacker with no prior access can reach core banking systems and SWIFT infrastructure within 26 hours.</a:t>
            </a:r>
            <a:endParaRPr lang="en-US" sz="1600" dirty="0"/>
          </a:p>
        </p:txBody>
      </p:sp>
      <p:sp>
        <p:nvSpPr>
          <p:cNvPr id="5" name="Shape 3"/>
          <p:cNvSpPr/>
          <p:nvPr/>
        </p:nvSpPr>
        <p:spPr>
          <a:xfrm>
            <a:off x="365760" y="1152144"/>
            <a:ext cx="8412480" cy="749808"/>
          </a:xfrm>
          <a:prstGeom prst="rect">
            <a:avLst/>
          </a:prstGeom>
          <a:solidFill>
            <a:srgbClr val="1C0A0A"/>
          </a:solidFill>
          <a:ln w="12700">
            <a:solidFill>
              <a:srgbClr val="B33A3A"/>
            </a:solidFill>
            <a:prstDash val="solid"/>
          </a:ln>
        </p:spPr>
        <p:txBody>
          <a:bodyPr/>
          <a:lstStyle/>
          <a:p>
            <a:endParaRPr lang="en-GB"/>
          </a:p>
        </p:txBody>
      </p:sp>
      <p:sp>
        <p:nvSpPr>
          <p:cNvPr id="6" name="Shape 4"/>
          <p:cNvSpPr/>
          <p:nvPr/>
        </p:nvSpPr>
        <p:spPr>
          <a:xfrm>
            <a:off x="365760" y="1152144"/>
            <a:ext cx="64008" cy="749808"/>
          </a:xfrm>
          <a:prstGeom prst="rect">
            <a:avLst/>
          </a:prstGeom>
          <a:solidFill>
            <a:srgbClr val="B33A3A"/>
          </a:solidFill>
          <a:ln w="12700">
            <a:solidFill>
              <a:srgbClr val="B33A3A"/>
            </a:solidFill>
            <a:prstDash val="solid"/>
          </a:ln>
        </p:spPr>
        <p:txBody>
          <a:bodyPr/>
          <a:lstStyle/>
          <a:p>
            <a:endParaRPr lang="en-GB"/>
          </a:p>
        </p:txBody>
      </p:sp>
      <p:sp>
        <p:nvSpPr>
          <p:cNvPr id="7" name="Text 5"/>
          <p:cNvSpPr/>
          <p:nvPr/>
        </p:nvSpPr>
        <p:spPr>
          <a:xfrm>
            <a:off x="548640" y="1207008"/>
            <a:ext cx="2194560" cy="594360"/>
          </a:xfrm>
          <a:prstGeom prst="rect">
            <a:avLst/>
          </a:prstGeom>
          <a:noFill/>
          <a:ln/>
        </p:spPr>
        <p:txBody>
          <a:bodyPr wrap="square" rtlCol="0" anchor="ctr"/>
          <a:lstStyle/>
          <a:p>
            <a:pPr marL="0" indent="0">
              <a:buNone/>
            </a:pPr>
            <a:r>
              <a:rPr lang="en-US" sz="1600" b="1" dirty="0">
                <a:solidFill>
                  <a:srgbClr val="EEE8D8"/>
                </a:solidFill>
                <a:latin typeface="Georgia" pitchFamily="34" charset="0"/>
                <a:ea typeface="Georgia" pitchFamily="34" charset="-122"/>
                <a:cs typeface="Georgia" pitchFamily="34" charset="-120"/>
              </a:rPr>
              <a:t>CRITICAL RISK</a:t>
            </a:r>
            <a:endParaRPr lang="en-US" sz="1600" dirty="0"/>
          </a:p>
        </p:txBody>
      </p:sp>
      <p:sp>
        <p:nvSpPr>
          <p:cNvPr id="8" name="Text 6"/>
          <p:cNvSpPr/>
          <p:nvPr/>
        </p:nvSpPr>
        <p:spPr>
          <a:xfrm>
            <a:off x="2834640" y="1188720"/>
            <a:ext cx="5760720" cy="640080"/>
          </a:xfrm>
          <a:prstGeom prst="rect">
            <a:avLst/>
          </a:prstGeom>
          <a:noFill/>
          <a:ln/>
        </p:spPr>
        <p:txBody>
          <a:bodyPr wrap="square" rtlCol="0" anchor="ctr"/>
          <a:lstStyle/>
          <a:p>
            <a:pPr marL="0" indent="0">
              <a:lnSpc>
                <a:spcPct val="145000"/>
              </a:lnSpc>
              <a:buNone/>
            </a:pPr>
            <a:r>
              <a:rPr lang="en-US" sz="950" dirty="0">
                <a:solidFill>
                  <a:srgbClr val="E8AFAF"/>
                </a:solidFill>
              </a:rPr>
              <a:t>Regulatory compliance obligations (e.g. GDPR, financial regulations), fraud enablement via SWIFT manipulation, and full customer data exfiltration are within reach of an unauthenticated external attacker. Existing controls provided no detection over a 26-day engagement.</a:t>
            </a:r>
            <a:endParaRPr lang="en-US" sz="950" dirty="0"/>
          </a:p>
        </p:txBody>
      </p:sp>
      <p:sp>
        <p:nvSpPr>
          <p:cNvPr id="9" name="Shape 7"/>
          <p:cNvSpPr/>
          <p:nvPr/>
        </p:nvSpPr>
        <p:spPr>
          <a:xfrm>
            <a:off x="365760" y="2048256"/>
            <a:ext cx="2057400" cy="1719072"/>
          </a:xfrm>
          <a:prstGeom prst="rect">
            <a:avLst/>
          </a:prstGeom>
          <a:solidFill>
            <a:srgbClr val="112240"/>
          </a:solidFill>
          <a:ln w="12700">
            <a:solidFill>
              <a:srgbClr val="2A3045"/>
            </a:solidFill>
            <a:prstDash val="solid"/>
          </a:ln>
        </p:spPr>
        <p:txBody>
          <a:bodyPr/>
          <a:lstStyle/>
          <a:p>
            <a:endParaRPr lang="en-GB"/>
          </a:p>
        </p:txBody>
      </p:sp>
      <p:sp>
        <p:nvSpPr>
          <p:cNvPr id="10" name="Shape 8"/>
          <p:cNvSpPr/>
          <p:nvPr/>
        </p:nvSpPr>
        <p:spPr>
          <a:xfrm>
            <a:off x="365760" y="2048256"/>
            <a:ext cx="2057400" cy="54864"/>
          </a:xfrm>
          <a:prstGeom prst="rect">
            <a:avLst/>
          </a:prstGeom>
          <a:solidFill>
            <a:srgbClr val="B33A3A"/>
          </a:solidFill>
          <a:ln w="12700">
            <a:solidFill>
              <a:srgbClr val="B33A3A"/>
            </a:solidFill>
            <a:prstDash val="solid"/>
          </a:ln>
        </p:spPr>
        <p:txBody>
          <a:bodyPr/>
          <a:lstStyle/>
          <a:p>
            <a:endParaRPr lang="en-GB"/>
          </a:p>
        </p:txBody>
      </p:sp>
      <p:sp>
        <p:nvSpPr>
          <p:cNvPr id="11" name="Text 9"/>
          <p:cNvSpPr/>
          <p:nvPr/>
        </p:nvSpPr>
        <p:spPr>
          <a:xfrm>
            <a:off x="502920" y="2139696"/>
            <a:ext cx="1783080" cy="685800"/>
          </a:xfrm>
          <a:prstGeom prst="rect">
            <a:avLst/>
          </a:prstGeom>
          <a:noFill/>
          <a:ln/>
        </p:spPr>
        <p:txBody>
          <a:bodyPr wrap="square" rtlCol="0" anchor="ctr"/>
          <a:lstStyle/>
          <a:p>
            <a:pPr marL="0" indent="0">
              <a:buNone/>
            </a:pPr>
            <a:r>
              <a:rPr lang="en-US" sz="5200" b="1" dirty="0">
                <a:solidFill>
                  <a:srgbClr val="B33A3A"/>
                </a:solidFill>
                <a:latin typeface="Georgia" pitchFamily="34" charset="0"/>
                <a:ea typeface="Georgia" pitchFamily="34" charset="-122"/>
                <a:cs typeface="Georgia" pitchFamily="34" charset="-120"/>
              </a:rPr>
              <a:t>5</a:t>
            </a:r>
            <a:endParaRPr lang="en-US" sz="5200" dirty="0"/>
          </a:p>
        </p:txBody>
      </p:sp>
      <p:sp>
        <p:nvSpPr>
          <p:cNvPr id="12" name="Text 10"/>
          <p:cNvSpPr/>
          <p:nvPr/>
        </p:nvSpPr>
        <p:spPr>
          <a:xfrm>
            <a:off x="502920" y="2852928"/>
            <a:ext cx="1783080" cy="201168"/>
          </a:xfrm>
          <a:prstGeom prst="rect">
            <a:avLst/>
          </a:prstGeom>
          <a:noFill/>
          <a:ln/>
        </p:spPr>
        <p:txBody>
          <a:bodyPr wrap="square" rtlCol="0" anchor="ctr"/>
          <a:lstStyle/>
          <a:p>
            <a:pPr marL="0" indent="0">
              <a:buNone/>
            </a:pPr>
            <a:r>
              <a:rPr lang="en-US" sz="800" kern="0" spc="200" dirty="0">
                <a:solidFill>
                  <a:srgbClr val="8A8A9A"/>
                </a:solidFill>
              </a:rPr>
              <a:t>CRITICAL</a:t>
            </a:r>
            <a:endParaRPr lang="en-US" sz="800" dirty="0"/>
          </a:p>
        </p:txBody>
      </p:sp>
      <p:sp>
        <p:nvSpPr>
          <p:cNvPr id="13" name="Text 11"/>
          <p:cNvSpPr/>
          <p:nvPr/>
        </p:nvSpPr>
        <p:spPr>
          <a:xfrm>
            <a:off x="502920" y="3072384"/>
            <a:ext cx="1783080" cy="548640"/>
          </a:xfrm>
          <a:prstGeom prst="rect">
            <a:avLst/>
          </a:prstGeom>
          <a:noFill/>
          <a:ln/>
        </p:spPr>
        <p:txBody>
          <a:bodyPr wrap="square" rtlCol="0" anchor="ctr"/>
          <a:lstStyle/>
          <a:p>
            <a:pPr marL="0" indent="0">
              <a:lnSpc>
                <a:spcPct val="130000"/>
              </a:lnSpc>
              <a:buNone/>
            </a:pPr>
            <a:r>
              <a:rPr lang="en-US" sz="900" dirty="0">
                <a:solidFill>
                  <a:srgbClr val="4A6080"/>
                </a:solidFill>
              </a:rPr>
              <a:t>Direct path to core</a:t>
            </a:r>
            <a:endParaRPr lang="en-US" sz="900" dirty="0"/>
          </a:p>
          <a:p>
            <a:pPr marL="0" indent="0">
              <a:lnSpc>
                <a:spcPct val="130000"/>
              </a:lnSpc>
              <a:buNone/>
            </a:pPr>
            <a:r>
              <a:rPr lang="en-US" sz="900" dirty="0">
                <a:solidFill>
                  <a:srgbClr val="4A6080"/>
                </a:solidFill>
              </a:rPr>
              <a:t>banking &amp; SWIFT</a:t>
            </a:r>
            <a:endParaRPr lang="en-US" sz="900" dirty="0"/>
          </a:p>
        </p:txBody>
      </p:sp>
      <p:sp>
        <p:nvSpPr>
          <p:cNvPr id="14" name="Shape 12"/>
          <p:cNvSpPr/>
          <p:nvPr/>
        </p:nvSpPr>
        <p:spPr>
          <a:xfrm>
            <a:off x="2514600" y="2048256"/>
            <a:ext cx="2057400" cy="1719072"/>
          </a:xfrm>
          <a:prstGeom prst="rect">
            <a:avLst/>
          </a:prstGeom>
          <a:solidFill>
            <a:srgbClr val="112240"/>
          </a:solidFill>
          <a:ln w="12700">
            <a:solidFill>
              <a:srgbClr val="2A3045"/>
            </a:solidFill>
            <a:prstDash val="solid"/>
          </a:ln>
        </p:spPr>
        <p:txBody>
          <a:bodyPr/>
          <a:lstStyle/>
          <a:p>
            <a:endParaRPr lang="en-GB"/>
          </a:p>
        </p:txBody>
      </p:sp>
      <p:sp>
        <p:nvSpPr>
          <p:cNvPr id="15" name="Shape 13"/>
          <p:cNvSpPr/>
          <p:nvPr/>
        </p:nvSpPr>
        <p:spPr>
          <a:xfrm>
            <a:off x="2514600" y="2048256"/>
            <a:ext cx="2057400" cy="54864"/>
          </a:xfrm>
          <a:prstGeom prst="rect">
            <a:avLst/>
          </a:prstGeom>
          <a:solidFill>
            <a:srgbClr val="E07B30"/>
          </a:solidFill>
          <a:ln w="12700">
            <a:solidFill>
              <a:srgbClr val="E07B30"/>
            </a:solidFill>
            <a:prstDash val="solid"/>
          </a:ln>
        </p:spPr>
        <p:txBody>
          <a:bodyPr/>
          <a:lstStyle/>
          <a:p>
            <a:endParaRPr lang="en-GB"/>
          </a:p>
        </p:txBody>
      </p:sp>
      <p:sp>
        <p:nvSpPr>
          <p:cNvPr id="16" name="Text 14"/>
          <p:cNvSpPr/>
          <p:nvPr/>
        </p:nvSpPr>
        <p:spPr>
          <a:xfrm>
            <a:off x="2651760" y="2139696"/>
            <a:ext cx="1783080" cy="685800"/>
          </a:xfrm>
          <a:prstGeom prst="rect">
            <a:avLst/>
          </a:prstGeom>
          <a:noFill/>
          <a:ln/>
        </p:spPr>
        <p:txBody>
          <a:bodyPr wrap="square" rtlCol="0" anchor="ctr"/>
          <a:lstStyle/>
          <a:p>
            <a:pPr marL="0" indent="0">
              <a:buNone/>
            </a:pPr>
            <a:r>
              <a:rPr lang="en-US" sz="5200" b="1" dirty="0">
                <a:solidFill>
                  <a:srgbClr val="E07B30"/>
                </a:solidFill>
                <a:latin typeface="Georgia" pitchFamily="34" charset="0"/>
                <a:ea typeface="Georgia" pitchFamily="34" charset="-122"/>
                <a:cs typeface="Georgia" pitchFamily="34" charset="-120"/>
              </a:rPr>
              <a:t>9</a:t>
            </a:r>
            <a:endParaRPr lang="en-US" sz="5200" dirty="0"/>
          </a:p>
        </p:txBody>
      </p:sp>
      <p:sp>
        <p:nvSpPr>
          <p:cNvPr id="17" name="Text 15"/>
          <p:cNvSpPr/>
          <p:nvPr/>
        </p:nvSpPr>
        <p:spPr>
          <a:xfrm>
            <a:off x="2651760" y="2852928"/>
            <a:ext cx="1783080" cy="201168"/>
          </a:xfrm>
          <a:prstGeom prst="rect">
            <a:avLst/>
          </a:prstGeom>
          <a:noFill/>
          <a:ln/>
        </p:spPr>
        <p:txBody>
          <a:bodyPr wrap="square" rtlCol="0" anchor="ctr"/>
          <a:lstStyle/>
          <a:p>
            <a:pPr marL="0" indent="0">
              <a:buNone/>
            </a:pPr>
            <a:r>
              <a:rPr lang="en-US" sz="800" kern="0" spc="200" dirty="0">
                <a:solidFill>
                  <a:srgbClr val="8A8A9A"/>
                </a:solidFill>
              </a:rPr>
              <a:t>HIGH</a:t>
            </a:r>
            <a:endParaRPr lang="en-US" sz="800" dirty="0"/>
          </a:p>
        </p:txBody>
      </p:sp>
      <p:sp>
        <p:nvSpPr>
          <p:cNvPr id="18" name="Text 16"/>
          <p:cNvSpPr/>
          <p:nvPr/>
        </p:nvSpPr>
        <p:spPr>
          <a:xfrm>
            <a:off x="2651760" y="3072384"/>
            <a:ext cx="1783080" cy="548640"/>
          </a:xfrm>
          <a:prstGeom prst="rect">
            <a:avLst/>
          </a:prstGeom>
          <a:noFill/>
          <a:ln/>
        </p:spPr>
        <p:txBody>
          <a:bodyPr wrap="square" rtlCol="0" anchor="ctr"/>
          <a:lstStyle/>
          <a:p>
            <a:pPr marL="0" indent="0">
              <a:lnSpc>
                <a:spcPct val="130000"/>
              </a:lnSpc>
              <a:buNone/>
            </a:pPr>
            <a:r>
              <a:rPr lang="en-US" sz="900" dirty="0">
                <a:solidFill>
                  <a:srgbClr val="4A6080"/>
                </a:solidFill>
              </a:rPr>
              <a:t>Significant fraud</a:t>
            </a:r>
            <a:endParaRPr lang="en-US" sz="900" dirty="0"/>
          </a:p>
          <a:p>
            <a:pPr marL="0" indent="0">
              <a:lnSpc>
                <a:spcPct val="130000"/>
              </a:lnSpc>
              <a:buNone/>
            </a:pPr>
            <a:r>
              <a:rPr lang="en-US" sz="900" dirty="0">
                <a:solidFill>
                  <a:srgbClr val="4A6080"/>
                </a:solidFill>
              </a:rPr>
              <a:t>or data exposure risk</a:t>
            </a:r>
            <a:endParaRPr lang="en-US" sz="900" dirty="0"/>
          </a:p>
        </p:txBody>
      </p:sp>
      <p:sp>
        <p:nvSpPr>
          <p:cNvPr id="19" name="Shape 17"/>
          <p:cNvSpPr/>
          <p:nvPr/>
        </p:nvSpPr>
        <p:spPr>
          <a:xfrm>
            <a:off x="4663440" y="2048256"/>
            <a:ext cx="2057400" cy="1719072"/>
          </a:xfrm>
          <a:prstGeom prst="rect">
            <a:avLst/>
          </a:prstGeom>
          <a:solidFill>
            <a:srgbClr val="112240"/>
          </a:solidFill>
          <a:ln w="12700">
            <a:solidFill>
              <a:srgbClr val="2A3045"/>
            </a:solidFill>
            <a:prstDash val="solid"/>
          </a:ln>
        </p:spPr>
        <p:txBody>
          <a:bodyPr/>
          <a:lstStyle/>
          <a:p>
            <a:endParaRPr lang="en-GB"/>
          </a:p>
        </p:txBody>
      </p:sp>
      <p:sp>
        <p:nvSpPr>
          <p:cNvPr id="20" name="Shape 18"/>
          <p:cNvSpPr/>
          <p:nvPr/>
        </p:nvSpPr>
        <p:spPr>
          <a:xfrm>
            <a:off x="4663440" y="2048256"/>
            <a:ext cx="2057400" cy="54864"/>
          </a:xfrm>
          <a:prstGeom prst="rect">
            <a:avLst/>
          </a:prstGeom>
          <a:solidFill>
            <a:srgbClr val="C97B2A"/>
          </a:solidFill>
          <a:ln w="12700">
            <a:solidFill>
              <a:srgbClr val="C97B2A"/>
            </a:solidFill>
            <a:prstDash val="solid"/>
          </a:ln>
        </p:spPr>
        <p:txBody>
          <a:bodyPr/>
          <a:lstStyle/>
          <a:p>
            <a:endParaRPr lang="en-GB"/>
          </a:p>
        </p:txBody>
      </p:sp>
      <p:sp>
        <p:nvSpPr>
          <p:cNvPr id="21" name="Text 19"/>
          <p:cNvSpPr/>
          <p:nvPr/>
        </p:nvSpPr>
        <p:spPr>
          <a:xfrm>
            <a:off x="4800600" y="2139696"/>
            <a:ext cx="1783080" cy="685800"/>
          </a:xfrm>
          <a:prstGeom prst="rect">
            <a:avLst/>
          </a:prstGeom>
          <a:noFill/>
          <a:ln/>
        </p:spPr>
        <p:txBody>
          <a:bodyPr wrap="square" rtlCol="0" anchor="ctr"/>
          <a:lstStyle/>
          <a:p>
            <a:pPr marL="0" indent="0">
              <a:buNone/>
            </a:pPr>
            <a:r>
              <a:rPr lang="en-US" sz="5200" b="1" dirty="0">
                <a:solidFill>
                  <a:srgbClr val="C97B2A"/>
                </a:solidFill>
                <a:latin typeface="Georgia" pitchFamily="34" charset="0"/>
                <a:ea typeface="Georgia" pitchFamily="34" charset="-122"/>
                <a:cs typeface="Georgia" pitchFamily="34" charset="-120"/>
              </a:rPr>
              <a:t>14</a:t>
            </a:r>
            <a:endParaRPr lang="en-US" sz="5200" dirty="0"/>
          </a:p>
        </p:txBody>
      </p:sp>
      <p:sp>
        <p:nvSpPr>
          <p:cNvPr id="22" name="Text 20"/>
          <p:cNvSpPr/>
          <p:nvPr/>
        </p:nvSpPr>
        <p:spPr>
          <a:xfrm>
            <a:off x="4800600" y="2852928"/>
            <a:ext cx="1783080" cy="201168"/>
          </a:xfrm>
          <a:prstGeom prst="rect">
            <a:avLst/>
          </a:prstGeom>
          <a:noFill/>
          <a:ln/>
        </p:spPr>
        <p:txBody>
          <a:bodyPr wrap="square" rtlCol="0" anchor="ctr"/>
          <a:lstStyle/>
          <a:p>
            <a:pPr marL="0" indent="0">
              <a:buNone/>
            </a:pPr>
            <a:r>
              <a:rPr lang="en-US" sz="800" kern="0" spc="200" dirty="0">
                <a:solidFill>
                  <a:srgbClr val="8A8A9A"/>
                </a:solidFill>
              </a:rPr>
              <a:t>MEDIUM</a:t>
            </a:r>
            <a:endParaRPr lang="en-US" sz="800" dirty="0"/>
          </a:p>
        </p:txBody>
      </p:sp>
      <p:sp>
        <p:nvSpPr>
          <p:cNvPr id="23" name="Text 21"/>
          <p:cNvSpPr/>
          <p:nvPr/>
        </p:nvSpPr>
        <p:spPr>
          <a:xfrm>
            <a:off x="4800600" y="3072384"/>
            <a:ext cx="1783080" cy="548640"/>
          </a:xfrm>
          <a:prstGeom prst="rect">
            <a:avLst/>
          </a:prstGeom>
          <a:noFill/>
          <a:ln/>
        </p:spPr>
        <p:txBody>
          <a:bodyPr wrap="square" rtlCol="0" anchor="ctr"/>
          <a:lstStyle/>
          <a:p>
            <a:pPr marL="0" indent="0">
              <a:lnSpc>
                <a:spcPct val="130000"/>
              </a:lnSpc>
              <a:buNone/>
            </a:pPr>
            <a:r>
              <a:rPr lang="en-US" sz="900" dirty="0">
                <a:solidFill>
                  <a:srgbClr val="4A6080"/>
                </a:solidFill>
              </a:rPr>
              <a:t>Reduces attacker</a:t>
            </a:r>
            <a:endParaRPr lang="en-US" sz="900" dirty="0"/>
          </a:p>
          <a:p>
            <a:pPr marL="0" indent="0">
              <a:lnSpc>
                <a:spcPct val="130000"/>
              </a:lnSpc>
              <a:buNone/>
            </a:pPr>
            <a:r>
              <a:rPr lang="en-US" sz="900" dirty="0">
                <a:solidFill>
                  <a:srgbClr val="4A6080"/>
                </a:solidFill>
              </a:rPr>
              <a:t>cost post-foothold</a:t>
            </a:r>
            <a:endParaRPr lang="en-US" sz="900" dirty="0"/>
          </a:p>
        </p:txBody>
      </p:sp>
      <p:sp>
        <p:nvSpPr>
          <p:cNvPr id="24" name="Shape 22"/>
          <p:cNvSpPr/>
          <p:nvPr/>
        </p:nvSpPr>
        <p:spPr>
          <a:xfrm>
            <a:off x="6812280" y="2048256"/>
            <a:ext cx="2057400" cy="1719072"/>
          </a:xfrm>
          <a:prstGeom prst="rect">
            <a:avLst/>
          </a:prstGeom>
          <a:solidFill>
            <a:srgbClr val="112240"/>
          </a:solidFill>
          <a:ln w="12700">
            <a:solidFill>
              <a:srgbClr val="2A3045"/>
            </a:solidFill>
            <a:prstDash val="solid"/>
          </a:ln>
        </p:spPr>
        <p:txBody>
          <a:bodyPr/>
          <a:lstStyle/>
          <a:p>
            <a:endParaRPr lang="en-GB"/>
          </a:p>
        </p:txBody>
      </p:sp>
      <p:sp>
        <p:nvSpPr>
          <p:cNvPr id="25" name="Shape 23"/>
          <p:cNvSpPr/>
          <p:nvPr/>
        </p:nvSpPr>
        <p:spPr>
          <a:xfrm>
            <a:off x="6812280" y="2048256"/>
            <a:ext cx="2057400" cy="54864"/>
          </a:xfrm>
          <a:prstGeom prst="rect">
            <a:avLst/>
          </a:prstGeom>
          <a:solidFill>
            <a:srgbClr val="6AABB0"/>
          </a:solidFill>
          <a:ln w="12700">
            <a:solidFill>
              <a:srgbClr val="6AABB0"/>
            </a:solidFill>
            <a:prstDash val="solid"/>
          </a:ln>
        </p:spPr>
        <p:txBody>
          <a:bodyPr/>
          <a:lstStyle/>
          <a:p>
            <a:endParaRPr lang="en-GB"/>
          </a:p>
        </p:txBody>
      </p:sp>
      <p:sp>
        <p:nvSpPr>
          <p:cNvPr id="26" name="Text 24"/>
          <p:cNvSpPr/>
          <p:nvPr/>
        </p:nvSpPr>
        <p:spPr>
          <a:xfrm>
            <a:off x="6949440" y="2139696"/>
            <a:ext cx="1783080" cy="685800"/>
          </a:xfrm>
          <a:prstGeom prst="rect">
            <a:avLst/>
          </a:prstGeom>
          <a:noFill/>
          <a:ln/>
        </p:spPr>
        <p:txBody>
          <a:bodyPr wrap="square" rtlCol="0" anchor="ctr"/>
          <a:lstStyle/>
          <a:p>
            <a:pPr marL="0" indent="0">
              <a:buNone/>
            </a:pPr>
            <a:r>
              <a:rPr lang="en-US" sz="5200" b="1" dirty="0">
                <a:solidFill>
                  <a:srgbClr val="6AABB0"/>
                </a:solidFill>
                <a:latin typeface="Georgia" pitchFamily="34" charset="0"/>
                <a:ea typeface="Georgia" pitchFamily="34" charset="-122"/>
                <a:cs typeface="Georgia" pitchFamily="34" charset="-120"/>
              </a:rPr>
              <a:t>8</a:t>
            </a:r>
            <a:endParaRPr lang="en-US" sz="5200" dirty="0"/>
          </a:p>
        </p:txBody>
      </p:sp>
      <p:sp>
        <p:nvSpPr>
          <p:cNvPr id="27" name="Text 25"/>
          <p:cNvSpPr/>
          <p:nvPr/>
        </p:nvSpPr>
        <p:spPr>
          <a:xfrm>
            <a:off x="6949440" y="2852928"/>
            <a:ext cx="1783080" cy="201168"/>
          </a:xfrm>
          <a:prstGeom prst="rect">
            <a:avLst/>
          </a:prstGeom>
          <a:noFill/>
          <a:ln/>
        </p:spPr>
        <p:txBody>
          <a:bodyPr wrap="square" rtlCol="0" anchor="ctr"/>
          <a:lstStyle/>
          <a:p>
            <a:pPr marL="0" indent="0">
              <a:buNone/>
            </a:pPr>
            <a:r>
              <a:rPr lang="en-US" sz="800" kern="0" spc="200" dirty="0">
                <a:solidFill>
                  <a:srgbClr val="8A8A9A"/>
                </a:solidFill>
              </a:rPr>
              <a:t>LOW/INFO</a:t>
            </a:r>
            <a:endParaRPr lang="en-US" sz="800" dirty="0"/>
          </a:p>
        </p:txBody>
      </p:sp>
      <p:sp>
        <p:nvSpPr>
          <p:cNvPr id="28" name="Text 26"/>
          <p:cNvSpPr/>
          <p:nvPr/>
        </p:nvSpPr>
        <p:spPr>
          <a:xfrm>
            <a:off x="6949440" y="3072384"/>
            <a:ext cx="1783080" cy="548640"/>
          </a:xfrm>
          <a:prstGeom prst="rect">
            <a:avLst/>
          </a:prstGeom>
          <a:noFill/>
          <a:ln/>
        </p:spPr>
        <p:txBody>
          <a:bodyPr wrap="square" rtlCol="0" anchor="ctr"/>
          <a:lstStyle/>
          <a:p>
            <a:pPr marL="0" indent="0">
              <a:lnSpc>
                <a:spcPct val="130000"/>
              </a:lnSpc>
              <a:buNone/>
            </a:pPr>
            <a:r>
              <a:rPr lang="en-US" sz="900" dirty="0">
                <a:solidFill>
                  <a:srgbClr val="4A6080"/>
                </a:solidFill>
              </a:rPr>
              <a:t>Defence-in-depth</a:t>
            </a:r>
            <a:endParaRPr lang="en-US" sz="900" dirty="0"/>
          </a:p>
          <a:p>
            <a:pPr marL="0" indent="0">
              <a:lnSpc>
                <a:spcPct val="130000"/>
              </a:lnSpc>
              <a:buNone/>
            </a:pPr>
            <a:r>
              <a:rPr lang="en-US" sz="900" dirty="0">
                <a:solidFill>
                  <a:srgbClr val="4A6080"/>
                </a:solidFill>
              </a:rPr>
              <a:t>gaps</a:t>
            </a:r>
            <a:endParaRPr lang="en-US" sz="900" dirty="0"/>
          </a:p>
        </p:txBody>
      </p:sp>
      <p:sp>
        <p:nvSpPr>
          <p:cNvPr id="29" name="Text 27"/>
          <p:cNvSpPr/>
          <p:nvPr/>
        </p:nvSpPr>
        <p:spPr>
          <a:xfrm>
            <a:off x="411480" y="3895344"/>
            <a:ext cx="8321040" cy="384048"/>
          </a:xfrm>
          <a:prstGeom prst="rect">
            <a:avLst/>
          </a:prstGeom>
          <a:noFill/>
          <a:ln/>
        </p:spPr>
        <p:txBody>
          <a:bodyPr wrap="square" rtlCol="0" anchor="ctr"/>
          <a:lstStyle/>
          <a:p>
            <a:pPr marL="0" indent="0">
              <a:lnSpc>
                <a:spcPct val="150000"/>
              </a:lnSpc>
              <a:buNone/>
            </a:pPr>
            <a:r>
              <a:rPr lang="en-US" sz="900" dirty="0">
                <a:solidFill>
                  <a:srgbClr val="8A8A9A"/>
                </a:solidFill>
              </a:rPr>
              <a:t>Testing conducted 02–28 Feb 2026. Black-box external phase transitioning to grey-box internal. SWIFT CSP v2024 compliance verified separately. Four of five critical findings are externally reachable with no credentials.</a:t>
            </a:r>
            <a:endParaRPr lang="en-US" sz="900" dirty="0"/>
          </a:p>
        </p:txBody>
      </p:sp>
      <p:sp>
        <p:nvSpPr>
          <p:cNvPr id="30" name="Shape 28"/>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31" name="Text 29"/>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02  DEMONSTRATED ATTACK PATH</a:t>
            </a:r>
            <a:endParaRPr lang="en-US" sz="800" dirty="0"/>
          </a:p>
        </p:txBody>
      </p:sp>
      <p:sp>
        <p:nvSpPr>
          <p:cNvPr id="4" name="Text 2"/>
          <p:cNvSpPr/>
          <p:nvPr/>
        </p:nvSpPr>
        <p:spPr>
          <a:xfrm>
            <a:off x="411480" y="457200"/>
            <a:ext cx="8321040" cy="502920"/>
          </a:xfrm>
          <a:prstGeom prst="rect">
            <a:avLst/>
          </a:prstGeom>
          <a:noFill/>
          <a:ln/>
        </p:spPr>
        <p:txBody>
          <a:bodyPr wrap="square" rtlCol="0" anchor="ctr"/>
          <a:lstStyle/>
          <a:p>
            <a:pPr marL="0" indent="0">
              <a:buNone/>
            </a:pPr>
            <a:r>
              <a:rPr lang="en-US" sz="2200" b="1" dirty="0">
                <a:solidFill>
                  <a:srgbClr val="EEE8D8"/>
                </a:solidFill>
                <a:latin typeface="Georgia" pitchFamily="34" charset="0"/>
                <a:ea typeface="Georgia" pitchFamily="34" charset="-122"/>
                <a:cs typeface="Georgia" pitchFamily="34" charset="-120"/>
              </a:rPr>
              <a:t>From open internet to SWIFT transaction signing in 26 hours.</a:t>
            </a:r>
            <a:endParaRPr lang="en-US" sz="2200" dirty="0"/>
          </a:p>
        </p:txBody>
      </p:sp>
      <p:sp>
        <p:nvSpPr>
          <p:cNvPr id="5" name="Shape 3"/>
          <p:cNvSpPr/>
          <p:nvPr/>
        </p:nvSpPr>
        <p:spPr>
          <a:xfrm>
            <a:off x="274320" y="1143000"/>
            <a:ext cx="1572768" cy="1691640"/>
          </a:xfrm>
          <a:prstGeom prst="rect">
            <a:avLst/>
          </a:prstGeom>
          <a:solidFill>
            <a:srgbClr val="112240"/>
          </a:solidFill>
          <a:ln w="12700">
            <a:solidFill>
              <a:srgbClr val="1A3460"/>
            </a:solidFill>
            <a:prstDash val="solid"/>
          </a:ln>
        </p:spPr>
        <p:txBody>
          <a:bodyPr/>
          <a:lstStyle/>
          <a:p>
            <a:endParaRPr lang="en-GB"/>
          </a:p>
        </p:txBody>
      </p:sp>
      <p:sp>
        <p:nvSpPr>
          <p:cNvPr id="6" name="Shape 4"/>
          <p:cNvSpPr/>
          <p:nvPr/>
        </p:nvSpPr>
        <p:spPr>
          <a:xfrm>
            <a:off x="274320" y="1143000"/>
            <a:ext cx="1572768" cy="50292"/>
          </a:xfrm>
          <a:prstGeom prst="rect">
            <a:avLst/>
          </a:prstGeom>
          <a:solidFill>
            <a:srgbClr val="C9952A"/>
          </a:solidFill>
          <a:ln w="12700">
            <a:solidFill>
              <a:srgbClr val="C9952A"/>
            </a:solidFill>
            <a:prstDash val="solid"/>
          </a:ln>
        </p:spPr>
        <p:txBody>
          <a:bodyPr/>
          <a:lstStyle/>
          <a:p>
            <a:endParaRPr lang="en-GB"/>
          </a:p>
        </p:txBody>
      </p:sp>
      <p:sp>
        <p:nvSpPr>
          <p:cNvPr id="7" name="Text 5"/>
          <p:cNvSpPr/>
          <p:nvPr/>
        </p:nvSpPr>
        <p:spPr>
          <a:xfrm>
            <a:off x="365760" y="1234440"/>
            <a:ext cx="1389888" cy="201168"/>
          </a:xfrm>
          <a:prstGeom prst="rect">
            <a:avLst/>
          </a:prstGeom>
          <a:noFill/>
          <a:ln/>
        </p:spPr>
        <p:txBody>
          <a:bodyPr wrap="square" rtlCol="0" anchor="ctr"/>
          <a:lstStyle/>
          <a:p>
            <a:pPr marL="0" indent="0">
              <a:buNone/>
            </a:pPr>
            <a:r>
              <a:rPr lang="en-US" sz="750" kern="0" spc="200" dirty="0">
                <a:solidFill>
                  <a:srgbClr val="8A8A9A"/>
                </a:solidFill>
              </a:rPr>
              <a:t>STEP 01</a:t>
            </a:r>
            <a:endParaRPr lang="en-US" sz="750" dirty="0"/>
          </a:p>
        </p:txBody>
      </p:sp>
      <p:sp>
        <p:nvSpPr>
          <p:cNvPr id="8" name="Text 6"/>
          <p:cNvSpPr/>
          <p:nvPr/>
        </p:nvSpPr>
        <p:spPr>
          <a:xfrm>
            <a:off x="365760" y="1444752"/>
            <a:ext cx="1389888" cy="658368"/>
          </a:xfrm>
          <a:prstGeom prst="rect">
            <a:avLst/>
          </a:prstGeom>
          <a:noFill/>
          <a:ln/>
        </p:spPr>
        <p:txBody>
          <a:bodyPr wrap="square" rtlCol="0" anchor="ctr"/>
          <a:lstStyle/>
          <a:p>
            <a:pPr marL="0" indent="0">
              <a:lnSpc>
                <a:spcPct val="130000"/>
              </a:lnSpc>
              <a:buNone/>
            </a:pPr>
            <a:r>
              <a:rPr lang="en-US" sz="1050" b="1" dirty="0">
                <a:solidFill>
                  <a:srgbClr val="EEE8D8"/>
                </a:solidFill>
              </a:rPr>
              <a:t>Public API</a:t>
            </a:r>
            <a:endParaRPr lang="en-US" sz="1050" dirty="0"/>
          </a:p>
          <a:p>
            <a:pPr marL="0" indent="0">
              <a:lnSpc>
                <a:spcPct val="130000"/>
              </a:lnSpc>
              <a:buNone/>
            </a:pPr>
            <a:r>
              <a:rPr lang="en-US" sz="1050" b="1" dirty="0">
                <a:solidFill>
                  <a:srgbClr val="EEE8D8"/>
                </a:solidFill>
              </a:rPr>
              <a:t>Recon</a:t>
            </a:r>
            <a:endParaRPr lang="en-US" sz="1050" dirty="0"/>
          </a:p>
        </p:txBody>
      </p:sp>
      <p:sp>
        <p:nvSpPr>
          <p:cNvPr id="9" name="Text 7"/>
          <p:cNvSpPr/>
          <p:nvPr/>
        </p:nvSpPr>
        <p:spPr>
          <a:xfrm>
            <a:off x="365760" y="2121408"/>
            <a:ext cx="1389888" cy="502920"/>
          </a:xfrm>
          <a:prstGeom prst="rect">
            <a:avLst/>
          </a:prstGeom>
          <a:noFill/>
          <a:ln/>
        </p:spPr>
        <p:txBody>
          <a:bodyPr wrap="square" rtlCol="0" anchor="ctr"/>
          <a:lstStyle/>
          <a:p>
            <a:pPr marL="0" indent="0">
              <a:lnSpc>
                <a:spcPct val="130000"/>
              </a:lnSpc>
              <a:buNone/>
            </a:pPr>
            <a:r>
              <a:rPr lang="en-US" sz="850" dirty="0">
                <a:solidFill>
                  <a:srgbClr val="E8B84B"/>
                </a:solidFill>
              </a:rPr>
              <a:t>CVE-2025-1849</a:t>
            </a:r>
            <a:endParaRPr lang="en-US" sz="850" dirty="0"/>
          </a:p>
          <a:p>
            <a:pPr marL="0" indent="0">
              <a:lnSpc>
                <a:spcPct val="130000"/>
              </a:lnSpc>
              <a:buNone/>
            </a:pPr>
            <a:r>
              <a:rPr lang="en-US" sz="850" dirty="0">
                <a:solidFill>
                  <a:srgbClr val="E8B84B"/>
                </a:solidFill>
              </a:rPr>
              <a:t>SQL Injection</a:t>
            </a:r>
            <a:endParaRPr lang="en-US" sz="850" dirty="0"/>
          </a:p>
        </p:txBody>
      </p:sp>
      <p:sp>
        <p:nvSpPr>
          <p:cNvPr id="10" name="Text 8"/>
          <p:cNvSpPr/>
          <p:nvPr/>
        </p:nvSpPr>
        <p:spPr>
          <a:xfrm>
            <a:off x="1847088" y="1783080"/>
            <a:ext cx="146304" cy="256032"/>
          </a:xfrm>
          <a:prstGeom prst="rect">
            <a:avLst/>
          </a:prstGeom>
          <a:noFill/>
          <a:ln/>
        </p:spPr>
        <p:txBody>
          <a:bodyPr wrap="square" rtlCol="0" anchor="ctr"/>
          <a:lstStyle/>
          <a:p>
            <a:pPr marL="0" indent="0" algn="ctr">
              <a:buNone/>
            </a:pPr>
            <a:r>
              <a:rPr lang="en-US" sz="1400" dirty="0">
                <a:solidFill>
                  <a:srgbClr val="C9952A"/>
                </a:solidFill>
              </a:rPr>
              <a:t>→</a:t>
            </a:r>
            <a:endParaRPr lang="en-US" sz="1400" dirty="0"/>
          </a:p>
        </p:txBody>
      </p:sp>
      <p:sp>
        <p:nvSpPr>
          <p:cNvPr id="11" name="Shape 9"/>
          <p:cNvSpPr/>
          <p:nvPr/>
        </p:nvSpPr>
        <p:spPr>
          <a:xfrm>
            <a:off x="1993392" y="1143000"/>
            <a:ext cx="1572768" cy="1691640"/>
          </a:xfrm>
          <a:prstGeom prst="rect">
            <a:avLst/>
          </a:prstGeom>
          <a:solidFill>
            <a:srgbClr val="112240"/>
          </a:solidFill>
          <a:ln w="12700">
            <a:solidFill>
              <a:srgbClr val="1A3460"/>
            </a:solidFill>
            <a:prstDash val="solid"/>
          </a:ln>
        </p:spPr>
        <p:txBody>
          <a:bodyPr/>
          <a:lstStyle/>
          <a:p>
            <a:endParaRPr lang="en-GB"/>
          </a:p>
        </p:txBody>
      </p:sp>
      <p:sp>
        <p:nvSpPr>
          <p:cNvPr id="12" name="Shape 10"/>
          <p:cNvSpPr/>
          <p:nvPr/>
        </p:nvSpPr>
        <p:spPr>
          <a:xfrm>
            <a:off x="1993392" y="1143000"/>
            <a:ext cx="1572768" cy="50292"/>
          </a:xfrm>
          <a:prstGeom prst="rect">
            <a:avLst/>
          </a:prstGeom>
          <a:solidFill>
            <a:srgbClr val="C9952A"/>
          </a:solidFill>
          <a:ln w="12700">
            <a:solidFill>
              <a:srgbClr val="C9952A"/>
            </a:solidFill>
            <a:prstDash val="solid"/>
          </a:ln>
        </p:spPr>
        <p:txBody>
          <a:bodyPr/>
          <a:lstStyle/>
          <a:p>
            <a:endParaRPr lang="en-GB"/>
          </a:p>
        </p:txBody>
      </p:sp>
      <p:sp>
        <p:nvSpPr>
          <p:cNvPr id="13" name="Text 11"/>
          <p:cNvSpPr/>
          <p:nvPr/>
        </p:nvSpPr>
        <p:spPr>
          <a:xfrm>
            <a:off x="2084832" y="1234440"/>
            <a:ext cx="1389888" cy="201168"/>
          </a:xfrm>
          <a:prstGeom prst="rect">
            <a:avLst/>
          </a:prstGeom>
          <a:noFill/>
          <a:ln/>
        </p:spPr>
        <p:txBody>
          <a:bodyPr wrap="square" rtlCol="0" anchor="ctr"/>
          <a:lstStyle/>
          <a:p>
            <a:pPr marL="0" indent="0">
              <a:buNone/>
            </a:pPr>
            <a:r>
              <a:rPr lang="en-US" sz="750" kern="0" spc="200" dirty="0">
                <a:solidFill>
                  <a:srgbClr val="8A8A9A"/>
                </a:solidFill>
              </a:rPr>
              <a:t>STEP 02</a:t>
            </a:r>
            <a:endParaRPr lang="en-US" sz="750" dirty="0"/>
          </a:p>
        </p:txBody>
      </p:sp>
      <p:sp>
        <p:nvSpPr>
          <p:cNvPr id="14" name="Text 12"/>
          <p:cNvSpPr/>
          <p:nvPr/>
        </p:nvSpPr>
        <p:spPr>
          <a:xfrm>
            <a:off x="2084832" y="1444752"/>
            <a:ext cx="1389888" cy="658368"/>
          </a:xfrm>
          <a:prstGeom prst="rect">
            <a:avLst/>
          </a:prstGeom>
          <a:noFill/>
          <a:ln/>
        </p:spPr>
        <p:txBody>
          <a:bodyPr wrap="square" rtlCol="0" anchor="ctr"/>
          <a:lstStyle/>
          <a:p>
            <a:pPr marL="0" indent="0">
              <a:lnSpc>
                <a:spcPct val="130000"/>
              </a:lnSpc>
              <a:buNone/>
            </a:pPr>
            <a:r>
              <a:rPr lang="en-US" sz="1050" b="1" dirty="0">
                <a:solidFill>
                  <a:srgbClr val="EEE8D8"/>
                </a:solidFill>
              </a:rPr>
              <a:t>Customer DB</a:t>
            </a:r>
            <a:endParaRPr lang="en-US" sz="1050" dirty="0"/>
          </a:p>
          <a:p>
            <a:pPr marL="0" indent="0">
              <a:lnSpc>
                <a:spcPct val="130000"/>
              </a:lnSpc>
              <a:buNone/>
            </a:pPr>
            <a:r>
              <a:rPr lang="en-US" sz="1050" b="1" dirty="0">
                <a:solidFill>
                  <a:srgbClr val="EEE8D8"/>
                </a:solidFill>
              </a:rPr>
              <a:t>Exfiltration</a:t>
            </a:r>
            <a:endParaRPr lang="en-US" sz="1050" dirty="0"/>
          </a:p>
        </p:txBody>
      </p:sp>
      <p:sp>
        <p:nvSpPr>
          <p:cNvPr id="15" name="Text 13"/>
          <p:cNvSpPr/>
          <p:nvPr/>
        </p:nvSpPr>
        <p:spPr>
          <a:xfrm>
            <a:off x="2084832" y="2121408"/>
            <a:ext cx="1389888" cy="502920"/>
          </a:xfrm>
          <a:prstGeom prst="rect">
            <a:avLst/>
          </a:prstGeom>
          <a:noFill/>
          <a:ln/>
        </p:spPr>
        <p:txBody>
          <a:bodyPr wrap="square" rtlCol="0" anchor="ctr"/>
          <a:lstStyle/>
          <a:p>
            <a:pPr marL="0" indent="0">
              <a:lnSpc>
                <a:spcPct val="130000"/>
              </a:lnSpc>
              <a:buNone/>
            </a:pPr>
            <a:r>
              <a:rPr lang="en-US" sz="850" dirty="0">
                <a:solidFill>
                  <a:srgbClr val="E8B84B"/>
                </a:solidFill>
              </a:rPr>
              <a:t>1M records</a:t>
            </a:r>
            <a:endParaRPr lang="en-US" sz="850" dirty="0"/>
          </a:p>
          <a:p>
            <a:pPr marL="0" indent="0">
              <a:lnSpc>
                <a:spcPct val="130000"/>
              </a:lnSpc>
              <a:buNone/>
            </a:pPr>
            <a:r>
              <a:rPr lang="en-US" sz="850" dirty="0">
                <a:solidFill>
                  <a:srgbClr val="E8B84B"/>
                </a:solidFill>
              </a:rPr>
              <a:t>extracted</a:t>
            </a:r>
            <a:endParaRPr lang="en-US" sz="850" dirty="0"/>
          </a:p>
        </p:txBody>
      </p:sp>
      <p:sp>
        <p:nvSpPr>
          <p:cNvPr id="16" name="Text 14"/>
          <p:cNvSpPr/>
          <p:nvPr/>
        </p:nvSpPr>
        <p:spPr>
          <a:xfrm>
            <a:off x="3566160" y="1783080"/>
            <a:ext cx="146304" cy="256032"/>
          </a:xfrm>
          <a:prstGeom prst="rect">
            <a:avLst/>
          </a:prstGeom>
          <a:noFill/>
          <a:ln/>
        </p:spPr>
        <p:txBody>
          <a:bodyPr wrap="square" rtlCol="0" anchor="ctr"/>
          <a:lstStyle/>
          <a:p>
            <a:pPr marL="0" indent="0" algn="ctr">
              <a:buNone/>
            </a:pPr>
            <a:r>
              <a:rPr lang="en-US" sz="1400" dirty="0">
                <a:solidFill>
                  <a:srgbClr val="C9952A"/>
                </a:solidFill>
              </a:rPr>
              <a:t>→</a:t>
            </a:r>
            <a:endParaRPr lang="en-US" sz="1400" dirty="0"/>
          </a:p>
        </p:txBody>
      </p:sp>
      <p:sp>
        <p:nvSpPr>
          <p:cNvPr id="17" name="Shape 15"/>
          <p:cNvSpPr/>
          <p:nvPr/>
        </p:nvSpPr>
        <p:spPr>
          <a:xfrm>
            <a:off x="3712464" y="1143000"/>
            <a:ext cx="1572768" cy="1691640"/>
          </a:xfrm>
          <a:prstGeom prst="rect">
            <a:avLst/>
          </a:prstGeom>
          <a:solidFill>
            <a:srgbClr val="112240"/>
          </a:solidFill>
          <a:ln w="12700">
            <a:solidFill>
              <a:srgbClr val="1A3460"/>
            </a:solidFill>
            <a:prstDash val="solid"/>
          </a:ln>
        </p:spPr>
        <p:txBody>
          <a:bodyPr/>
          <a:lstStyle/>
          <a:p>
            <a:endParaRPr lang="en-GB"/>
          </a:p>
        </p:txBody>
      </p:sp>
      <p:sp>
        <p:nvSpPr>
          <p:cNvPr id="18" name="Shape 16"/>
          <p:cNvSpPr/>
          <p:nvPr/>
        </p:nvSpPr>
        <p:spPr>
          <a:xfrm>
            <a:off x="3712464" y="1143000"/>
            <a:ext cx="1572768" cy="50292"/>
          </a:xfrm>
          <a:prstGeom prst="rect">
            <a:avLst/>
          </a:prstGeom>
          <a:solidFill>
            <a:srgbClr val="C9952A"/>
          </a:solidFill>
          <a:ln w="12700">
            <a:solidFill>
              <a:srgbClr val="C9952A"/>
            </a:solidFill>
            <a:prstDash val="solid"/>
          </a:ln>
        </p:spPr>
        <p:txBody>
          <a:bodyPr/>
          <a:lstStyle/>
          <a:p>
            <a:endParaRPr lang="en-GB"/>
          </a:p>
        </p:txBody>
      </p:sp>
      <p:sp>
        <p:nvSpPr>
          <p:cNvPr id="19" name="Text 17"/>
          <p:cNvSpPr/>
          <p:nvPr/>
        </p:nvSpPr>
        <p:spPr>
          <a:xfrm>
            <a:off x="3803904" y="1234440"/>
            <a:ext cx="1389888" cy="201168"/>
          </a:xfrm>
          <a:prstGeom prst="rect">
            <a:avLst/>
          </a:prstGeom>
          <a:noFill/>
          <a:ln/>
        </p:spPr>
        <p:txBody>
          <a:bodyPr wrap="square" rtlCol="0" anchor="ctr"/>
          <a:lstStyle/>
          <a:p>
            <a:pPr marL="0" indent="0">
              <a:buNone/>
            </a:pPr>
            <a:r>
              <a:rPr lang="en-US" sz="750" kern="0" spc="200" dirty="0">
                <a:solidFill>
                  <a:srgbClr val="8A8A9A"/>
                </a:solidFill>
              </a:rPr>
              <a:t>STEP 03</a:t>
            </a:r>
            <a:endParaRPr lang="en-US" sz="750" dirty="0"/>
          </a:p>
        </p:txBody>
      </p:sp>
      <p:sp>
        <p:nvSpPr>
          <p:cNvPr id="20" name="Text 18"/>
          <p:cNvSpPr/>
          <p:nvPr/>
        </p:nvSpPr>
        <p:spPr>
          <a:xfrm>
            <a:off x="3803904" y="1444752"/>
            <a:ext cx="1389888" cy="658368"/>
          </a:xfrm>
          <a:prstGeom prst="rect">
            <a:avLst/>
          </a:prstGeom>
          <a:noFill/>
          <a:ln/>
        </p:spPr>
        <p:txBody>
          <a:bodyPr wrap="square" rtlCol="0" anchor="ctr"/>
          <a:lstStyle/>
          <a:p>
            <a:pPr marL="0" indent="0">
              <a:lnSpc>
                <a:spcPct val="130000"/>
              </a:lnSpc>
              <a:buNone/>
            </a:pPr>
            <a:r>
              <a:rPr lang="en-US" sz="1050" b="1" dirty="0">
                <a:solidFill>
                  <a:srgbClr val="EEE8D8"/>
                </a:solidFill>
              </a:rPr>
              <a:t>VPN Pivot via</a:t>
            </a:r>
            <a:endParaRPr lang="en-US" sz="1050" dirty="0"/>
          </a:p>
          <a:p>
            <a:pPr marL="0" indent="0">
              <a:lnSpc>
                <a:spcPct val="130000"/>
              </a:lnSpc>
              <a:buNone/>
            </a:pPr>
            <a:r>
              <a:rPr lang="en-US" sz="1050" b="1" dirty="0">
                <a:solidFill>
                  <a:srgbClr val="EEE8D8"/>
                </a:solidFill>
              </a:rPr>
              <a:t>Stolen Creds</a:t>
            </a:r>
            <a:endParaRPr lang="en-US" sz="1050" dirty="0"/>
          </a:p>
        </p:txBody>
      </p:sp>
      <p:sp>
        <p:nvSpPr>
          <p:cNvPr id="21" name="Text 19"/>
          <p:cNvSpPr/>
          <p:nvPr/>
        </p:nvSpPr>
        <p:spPr>
          <a:xfrm>
            <a:off x="3803904" y="2121408"/>
            <a:ext cx="1389888" cy="502920"/>
          </a:xfrm>
          <a:prstGeom prst="rect">
            <a:avLst/>
          </a:prstGeom>
          <a:noFill/>
          <a:ln/>
        </p:spPr>
        <p:txBody>
          <a:bodyPr wrap="square" rtlCol="0" anchor="ctr"/>
          <a:lstStyle/>
          <a:p>
            <a:pPr marL="0" indent="0">
              <a:lnSpc>
                <a:spcPct val="130000"/>
              </a:lnSpc>
              <a:buNone/>
            </a:pPr>
            <a:r>
              <a:rPr lang="en-US" sz="850" dirty="0">
                <a:solidFill>
                  <a:srgbClr val="E8B84B"/>
                </a:solidFill>
              </a:rPr>
              <a:t>Credential</a:t>
            </a:r>
            <a:endParaRPr lang="en-US" sz="850" dirty="0"/>
          </a:p>
          <a:p>
            <a:pPr marL="0" indent="0">
              <a:lnSpc>
                <a:spcPct val="130000"/>
              </a:lnSpc>
              <a:buNone/>
            </a:pPr>
            <a:r>
              <a:rPr lang="en-US" sz="850" dirty="0">
                <a:solidFill>
                  <a:srgbClr val="E8B84B"/>
                </a:solidFill>
              </a:rPr>
              <a:t>stuffing</a:t>
            </a:r>
            <a:endParaRPr lang="en-US" sz="850" dirty="0"/>
          </a:p>
        </p:txBody>
      </p:sp>
      <p:sp>
        <p:nvSpPr>
          <p:cNvPr id="22" name="Text 20"/>
          <p:cNvSpPr/>
          <p:nvPr/>
        </p:nvSpPr>
        <p:spPr>
          <a:xfrm>
            <a:off x="5285232" y="1783080"/>
            <a:ext cx="146304" cy="256032"/>
          </a:xfrm>
          <a:prstGeom prst="rect">
            <a:avLst/>
          </a:prstGeom>
          <a:noFill/>
          <a:ln/>
        </p:spPr>
        <p:txBody>
          <a:bodyPr wrap="square" rtlCol="0" anchor="ctr"/>
          <a:lstStyle/>
          <a:p>
            <a:pPr marL="0" indent="0" algn="ctr">
              <a:buNone/>
            </a:pPr>
            <a:r>
              <a:rPr lang="en-US" sz="1400" dirty="0">
                <a:solidFill>
                  <a:srgbClr val="C9952A"/>
                </a:solidFill>
              </a:rPr>
              <a:t>→</a:t>
            </a:r>
            <a:endParaRPr lang="en-US" sz="1400" dirty="0"/>
          </a:p>
        </p:txBody>
      </p:sp>
      <p:sp>
        <p:nvSpPr>
          <p:cNvPr id="23" name="Shape 21"/>
          <p:cNvSpPr/>
          <p:nvPr/>
        </p:nvSpPr>
        <p:spPr>
          <a:xfrm>
            <a:off x="5431536" y="1143000"/>
            <a:ext cx="1572768" cy="1691640"/>
          </a:xfrm>
          <a:prstGeom prst="rect">
            <a:avLst/>
          </a:prstGeom>
          <a:solidFill>
            <a:srgbClr val="112240"/>
          </a:solidFill>
          <a:ln w="12700">
            <a:solidFill>
              <a:srgbClr val="1A3460"/>
            </a:solidFill>
            <a:prstDash val="solid"/>
          </a:ln>
        </p:spPr>
        <p:txBody>
          <a:bodyPr/>
          <a:lstStyle/>
          <a:p>
            <a:endParaRPr lang="en-GB"/>
          </a:p>
        </p:txBody>
      </p:sp>
      <p:sp>
        <p:nvSpPr>
          <p:cNvPr id="24" name="Shape 22"/>
          <p:cNvSpPr/>
          <p:nvPr/>
        </p:nvSpPr>
        <p:spPr>
          <a:xfrm>
            <a:off x="5431536" y="1143000"/>
            <a:ext cx="1572768" cy="50292"/>
          </a:xfrm>
          <a:prstGeom prst="rect">
            <a:avLst/>
          </a:prstGeom>
          <a:solidFill>
            <a:srgbClr val="C9952A"/>
          </a:solidFill>
          <a:ln w="12700">
            <a:solidFill>
              <a:srgbClr val="C9952A"/>
            </a:solidFill>
            <a:prstDash val="solid"/>
          </a:ln>
        </p:spPr>
        <p:txBody>
          <a:bodyPr/>
          <a:lstStyle/>
          <a:p>
            <a:endParaRPr lang="en-GB"/>
          </a:p>
        </p:txBody>
      </p:sp>
      <p:sp>
        <p:nvSpPr>
          <p:cNvPr id="25" name="Text 23"/>
          <p:cNvSpPr/>
          <p:nvPr/>
        </p:nvSpPr>
        <p:spPr>
          <a:xfrm>
            <a:off x="5522976" y="1234440"/>
            <a:ext cx="1389888" cy="201168"/>
          </a:xfrm>
          <a:prstGeom prst="rect">
            <a:avLst/>
          </a:prstGeom>
          <a:noFill/>
          <a:ln/>
        </p:spPr>
        <p:txBody>
          <a:bodyPr wrap="square" rtlCol="0" anchor="ctr"/>
          <a:lstStyle/>
          <a:p>
            <a:pPr marL="0" indent="0">
              <a:buNone/>
            </a:pPr>
            <a:r>
              <a:rPr lang="en-US" sz="750" kern="0" spc="200" dirty="0">
                <a:solidFill>
                  <a:srgbClr val="8A8A9A"/>
                </a:solidFill>
              </a:rPr>
              <a:t>STEP 04</a:t>
            </a:r>
            <a:endParaRPr lang="en-US" sz="750" dirty="0"/>
          </a:p>
        </p:txBody>
      </p:sp>
      <p:sp>
        <p:nvSpPr>
          <p:cNvPr id="26" name="Text 24"/>
          <p:cNvSpPr/>
          <p:nvPr/>
        </p:nvSpPr>
        <p:spPr>
          <a:xfrm>
            <a:off x="5522976" y="1444752"/>
            <a:ext cx="1389888" cy="658368"/>
          </a:xfrm>
          <a:prstGeom prst="rect">
            <a:avLst/>
          </a:prstGeom>
          <a:noFill/>
          <a:ln/>
        </p:spPr>
        <p:txBody>
          <a:bodyPr wrap="square" rtlCol="0" anchor="ctr"/>
          <a:lstStyle/>
          <a:p>
            <a:pPr marL="0" indent="0">
              <a:lnSpc>
                <a:spcPct val="130000"/>
              </a:lnSpc>
              <a:buNone/>
            </a:pPr>
            <a:r>
              <a:rPr lang="en-US" sz="1050" b="1" dirty="0">
                <a:solidFill>
                  <a:srgbClr val="EEE8D8"/>
                </a:solidFill>
              </a:rPr>
              <a:t>AD Compromise</a:t>
            </a:r>
            <a:endParaRPr lang="en-US" sz="1050" dirty="0"/>
          </a:p>
          <a:p>
            <a:pPr marL="0" indent="0">
              <a:lnSpc>
                <a:spcPct val="130000"/>
              </a:lnSpc>
              <a:buNone/>
            </a:pPr>
            <a:r>
              <a:rPr lang="en-US" sz="1050" b="1" dirty="0">
                <a:solidFill>
                  <a:srgbClr val="EEE8D8"/>
                </a:solidFill>
              </a:rPr>
              <a:t>&amp; Lateral Mv</a:t>
            </a:r>
            <a:endParaRPr lang="en-US" sz="1050" dirty="0"/>
          </a:p>
        </p:txBody>
      </p:sp>
      <p:sp>
        <p:nvSpPr>
          <p:cNvPr id="27" name="Text 25"/>
          <p:cNvSpPr/>
          <p:nvPr/>
        </p:nvSpPr>
        <p:spPr>
          <a:xfrm>
            <a:off x="5522976" y="2121408"/>
            <a:ext cx="1389888" cy="502920"/>
          </a:xfrm>
          <a:prstGeom prst="rect">
            <a:avLst/>
          </a:prstGeom>
          <a:noFill/>
          <a:ln/>
        </p:spPr>
        <p:txBody>
          <a:bodyPr wrap="square" rtlCol="0" anchor="ctr"/>
          <a:lstStyle/>
          <a:p>
            <a:pPr marL="0" indent="0">
              <a:lnSpc>
                <a:spcPct val="130000"/>
              </a:lnSpc>
              <a:buNone/>
            </a:pPr>
            <a:r>
              <a:rPr lang="en-US" sz="850" dirty="0">
                <a:solidFill>
                  <a:srgbClr val="E8B84B"/>
                </a:solidFill>
              </a:rPr>
              <a:t>DCSync /</a:t>
            </a:r>
            <a:endParaRPr lang="en-US" sz="850" dirty="0"/>
          </a:p>
          <a:p>
            <a:pPr marL="0" indent="0">
              <a:lnSpc>
                <a:spcPct val="130000"/>
              </a:lnSpc>
              <a:buNone/>
            </a:pPr>
            <a:r>
              <a:rPr lang="en-US" sz="850" dirty="0">
                <a:solidFill>
                  <a:srgbClr val="E8B84B"/>
                </a:solidFill>
              </a:rPr>
              <a:t>Pass-the-Hash</a:t>
            </a:r>
            <a:endParaRPr lang="en-US" sz="850" dirty="0"/>
          </a:p>
        </p:txBody>
      </p:sp>
      <p:sp>
        <p:nvSpPr>
          <p:cNvPr id="28" name="Text 26"/>
          <p:cNvSpPr/>
          <p:nvPr/>
        </p:nvSpPr>
        <p:spPr>
          <a:xfrm>
            <a:off x="7004304" y="1783080"/>
            <a:ext cx="146304" cy="256032"/>
          </a:xfrm>
          <a:prstGeom prst="rect">
            <a:avLst/>
          </a:prstGeom>
          <a:noFill/>
          <a:ln/>
        </p:spPr>
        <p:txBody>
          <a:bodyPr wrap="square" rtlCol="0" anchor="ctr"/>
          <a:lstStyle/>
          <a:p>
            <a:pPr marL="0" indent="0" algn="ctr">
              <a:buNone/>
            </a:pPr>
            <a:r>
              <a:rPr lang="en-US" sz="1400" dirty="0">
                <a:solidFill>
                  <a:srgbClr val="C9952A"/>
                </a:solidFill>
              </a:rPr>
              <a:t>→</a:t>
            </a:r>
            <a:endParaRPr lang="en-US" sz="1400" dirty="0"/>
          </a:p>
        </p:txBody>
      </p:sp>
      <p:sp>
        <p:nvSpPr>
          <p:cNvPr id="29" name="Shape 27"/>
          <p:cNvSpPr/>
          <p:nvPr/>
        </p:nvSpPr>
        <p:spPr>
          <a:xfrm>
            <a:off x="7150608" y="1143000"/>
            <a:ext cx="1572768" cy="1691640"/>
          </a:xfrm>
          <a:prstGeom prst="rect">
            <a:avLst/>
          </a:prstGeom>
          <a:solidFill>
            <a:srgbClr val="160808"/>
          </a:solidFill>
          <a:ln w="12700">
            <a:solidFill>
              <a:srgbClr val="B33A3A"/>
            </a:solidFill>
            <a:prstDash val="solid"/>
          </a:ln>
        </p:spPr>
        <p:txBody>
          <a:bodyPr/>
          <a:lstStyle/>
          <a:p>
            <a:endParaRPr lang="en-GB"/>
          </a:p>
        </p:txBody>
      </p:sp>
      <p:sp>
        <p:nvSpPr>
          <p:cNvPr id="30" name="Shape 28"/>
          <p:cNvSpPr/>
          <p:nvPr/>
        </p:nvSpPr>
        <p:spPr>
          <a:xfrm>
            <a:off x="7150608" y="1143000"/>
            <a:ext cx="1572768" cy="50292"/>
          </a:xfrm>
          <a:prstGeom prst="rect">
            <a:avLst/>
          </a:prstGeom>
          <a:solidFill>
            <a:srgbClr val="B33A3A"/>
          </a:solidFill>
          <a:ln w="12700">
            <a:solidFill>
              <a:srgbClr val="B33A3A"/>
            </a:solidFill>
            <a:prstDash val="solid"/>
          </a:ln>
        </p:spPr>
        <p:txBody>
          <a:bodyPr/>
          <a:lstStyle/>
          <a:p>
            <a:endParaRPr lang="en-GB"/>
          </a:p>
        </p:txBody>
      </p:sp>
      <p:sp>
        <p:nvSpPr>
          <p:cNvPr id="31" name="Text 29"/>
          <p:cNvSpPr/>
          <p:nvPr/>
        </p:nvSpPr>
        <p:spPr>
          <a:xfrm>
            <a:off x="7242048" y="1234440"/>
            <a:ext cx="1389888" cy="201168"/>
          </a:xfrm>
          <a:prstGeom prst="rect">
            <a:avLst/>
          </a:prstGeom>
          <a:noFill/>
          <a:ln/>
        </p:spPr>
        <p:txBody>
          <a:bodyPr wrap="square" rtlCol="0" anchor="ctr"/>
          <a:lstStyle/>
          <a:p>
            <a:pPr marL="0" indent="0">
              <a:buNone/>
            </a:pPr>
            <a:r>
              <a:rPr lang="en-US" sz="750" kern="0" spc="200" dirty="0">
                <a:solidFill>
                  <a:srgbClr val="8A8A9A"/>
                </a:solidFill>
              </a:rPr>
              <a:t>STEP 05</a:t>
            </a:r>
            <a:endParaRPr lang="en-US" sz="750" dirty="0"/>
          </a:p>
        </p:txBody>
      </p:sp>
      <p:sp>
        <p:nvSpPr>
          <p:cNvPr id="32" name="Text 30"/>
          <p:cNvSpPr/>
          <p:nvPr/>
        </p:nvSpPr>
        <p:spPr>
          <a:xfrm>
            <a:off x="7242048" y="1444752"/>
            <a:ext cx="1389888" cy="658368"/>
          </a:xfrm>
          <a:prstGeom prst="rect">
            <a:avLst/>
          </a:prstGeom>
          <a:noFill/>
          <a:ln/>
        </p:spPr>
        <p:txBody>
          <a:bodyPr wrap="square" rtlCol="0" anchor="ctr"/>
          <a:lstStyle/>
          <a:p>
            <a:pPr marL="0" indent="0">
              <a:lnSpc>
                <a:spcPct val="130000"/>
              </a:lnSpc>
              <a:buNone/>
            </a:pPr>
            <a:r>
              <a:rPr lang="en-US" sz="1050" b="1" dirty="0">
                <a:solidFill>
                  <a:srgbClr val="EEE8D8"/>
                </a:solidFill>
              </a:rPr>
              <a:t>SWIFT Operator</a:t>
            </a:r>
            <a:endParaRPr lang="en-US" sz="1050" dirty="0"/>
          </a:p>
          <a:p>
            <a:pPr marL="0" indent="0">
              <a:lnSpc>
                <a:spcPct val="130000"/>
              </a:lnSpc>
              <a:buNone/>
            </a:pPr>
            <a:r>
              <a:rPr lang="en-US" sz="1050" b="1" dirty="0">
                <a:solidFill>
                  <a:srgbClr val="EEE8D8"/>
                </a:solidFill>
              </a:rPr>
              <a:t>Access</a:t>
            </a:r>
            <a:endParaRPr lang="en-US" sz="1050" dirty="0"/>
          </a:p>
        </p:txBody>
      </p:sp>
      <p:sp>
        <p:nvSpPr>
          <p:cNvPr id="33" name="Text 31"/>
          <p:cNvSpPr/>
          <p:nvPr/>
        </p:nvSpPr>
        <p:spPr>
          <a:xfrm>
            <a:off x="7242048" y="2121408"/>
            <a:ext cx="1389888" cy="502920"/>
          </a:xfrm>
          <a:prstGeom prst="rect">
            <a:avLst/>
          </a:prstGeom>
          <a:noFill/>
          <a:ln/>
        </p:spPr>
        <p:txBody>
          <a:bodyPr wrap="square" rtlCol="0" anchor="ctr"/>
          <a:lstStyle/>
          <a:p>
            <a:pPr marL="0" indent="0">
              <a:lnSpc>
                <a:spcPct val="130000"/>
              </a:lnSpc>
              <a:buNone/>
            </a:pPr>
            <a:r>
              <a:rPr lang="en-US" sz="850" dirty="0">
                <a:solidFill>
                  <a:srgbClr val="B33A3A"/>
                </a:solidFill>
              </a:rPr>
              <a:t>Fraudulent</a:t>
            </a:r>
            <a:endParaRPr lang="en-US" sz="850" dirty="0"/>
          </a:p>
          <a:p>
            <a:pPr marL="0" indent="0">
              <a:lnSpc>
                <a:spcPct val="130000"/>
              </a:lnSpc>
              <a:buNone/>
            </a:pPr>
            <a:r>
              <a:rPr lang="en-US" sz="850" dirty="0">
                <a:solidFill>
                  <a:srgbClr val="B33A3A"/>
                </a:solidFill>
              </a:rPr>
              <a:t>tx signing</a:t>
            </a:r>
            <a:endParaRPr lang="en-US" sz="850" dirty="0"/>
          </a:p>
        </p:txBody>
      </p:sp>
      <p:sp>
        <p:nvSpPr>
          <p:cNvPr id="34" name="Shape 32"/>
          <p:cNvSpPr/>
          <p:nvPr/>
        </p:nvSpPr>
        <p:spPr>
          <a:xfrm>
            <a:off x="274320" y="2999232"/>
            <a:ext cx="8595360" cy="1280160"/>
          </a:xfrm>
          <a:prstGeom prst="rect">
            <a:avLst/>
          </a:prstGeom>
          <a:solidFill>
            <a:srgbClr val="112240"/>
          </a:solidFill>
          <a:ln w="12700">
            <a:solidFill>
              <a:srgbClr val="2A3045"/>
            </a:solidFill>
            <a:prstDash val="solid"/>
          </a:ln>
        </p:spPr>
        <p:txBody>
          <a:bodyPr/>
          <a:lstStyle/>
          <a:p>
            <a:endParaRPr lang="en-GB"/>
          </a:p>
        </p:txBody>
      </p:sp>
      <p:sp>
        <p:nvSpPr>
          <p:cNvPr id="35" name="Shape 33"/>
          <p:cNvSpPr/>
          <p:nvPr/>
        </p:nvSpPr>
        <p:spPr>
          <a:xfrm>
            <a:off x="274320" y="2999232"/>
            <a:ext cx="8595360" cy="50292"/>
          </a:xfrm>
          <a:prstGeom prst="rect">
            <a:avLst/>
          </a:prstGeom>
          <a:solidFill>
            <a:srgbClr val="B33A3A"/>
          </a:solidFill>
          <a:ln w="12700">
            <a:solidFill>
              <a:srgbClr val="B33A3A"/>
            </a:solidFill>
            <a:prstDash val="solid"/>
          </a:ln>
        </p:spPr>
        <p:txBody>
          <a:bodyPr/>
          <a:lstStyle/>
          <a:p>
            <a:endParaRPr lang="en-GB"/>
          </a:p>
        </p:txBody>
      </p:sp>
      <p:sp>
        <p:nvSpPr>
          <p:cNvPr id="36" name="Text 34"/>
          <p:cNvSpPr/>
          <p:nvPr/>
        </p:nvSpPr>
        <p:spPr>
          <a:xfrm>
            <a:off x="457200" y="3090672"/>
            <a:ext cx="2743200" cy="201168"/>
          </a:xfrm>
          <a:prstGeom prst="rect">
            <a:avLst/>
          </a:prstGeom>
          <a:noFill/>
          <a:ln/>
        </p:spPr>
        <p:txBody>
          <a:bodyPr wrap="square" rtlCol="0" anchor="ctr"/>
          <a:lstStyle/>
          <a:p>
            <a:pPr marL="0" indent="0">
              <a:buNone/>
            </a:pPr>
            <a:r>
              <a:rPr lang="en-US" sz="750" kern="0" spc="200" dirty="0">
                <a:solidFill>
                  <a:srgbClr val="8A8A9A"/>
                </a:solidFill>
              </a:rPr>
              <a:t>BUSINESS IMPACT</a:t>
            </a:r>
            <a:endParaRPr lang="en-US" sz="750" dirty="0"/>
          </a:p>
        </p:txBody>
      </p:sp>
      <p:sp>
        <p:nvSpPr>
          <p:cNvPr id="37" name="Text 35"/>
          <p:cNvSpPr/>
          <p:nvPr/>
        </p:nvSpPr>
        <p:spPr>
          <a:xfrm>
            <a:off x="457200" y="3310128"/>
            <a:ext cx="8321040" cy="841248"/>
          </a:xfrm>
          <a:prstGeom prst="rect">
            <a:avLst/>
          </a:prstGeom>
          <a:noFill/>
          <a:ln/>
        </p:spPr>
        <p:txBody>
          <a:bodyPr wrap="square" rtlCol="0" anchor="ctr"/>
          <a:lstStyle/>
          <a:p>
            <a:pPr marL="0" indent="0">
              <a:lnSpc>
                <a:spcPct val="155000"/>
              </a:lnSpc>
              <a:buNone/>
            </a:pPr>
            <a:r>
              <a:rPr lang="en-US" sz="1000" dirty="0">
                <a:solidFill>
                  <a:srgbClr val="C8C4B8"/>
                </a:solidFill>
              </a:rPr>
              <a:t>At Step 05, assessors could submit fraudulent SWIFT payment instructions and had read access to 2.1M customer records including sort codes, account numbers, and PEP/sanctions screening data. Step 03 triggers FCA breach notification under DORA. Potential fraud loss exposure: uncapped pending transaction limits.</a:t>
            </a:r>
            <a:endParaRPr lang="en-US" sz="1000" dirty="0"/>
          </a:p>
        </p:txBody>
      </p:sp>
      <p:sp>
        <p:nvSpPr>
          <p:cNvPr id="38" name="Shape 36"/>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39" name="Text 37"/>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03  FINDINGS SUMMARY</a:t>
            </a:r>
            <a:endParaRPr lang="en-US" sz="800" dirty="0"/>
          </a:p>
        </p:txBody>
      </p:sp>
      <p:sp>
        <p:nvSpPr>
          <p:cNvPr id="4" name="Text 2"/>
          <p:cNvSpPr/>
          <p:nvPr/>
        </p:nvSpPr>
        <p:spPr>
          <a:xfrm>
            <a:off x="411480" y="457200"/>
            <a:ext cx="8412480" cy="402336"/>
          </a:xfrm>
          <a:prstGeom prst="rect">
            <a:avLst/>
          </a:prstGeom>
          <a:noFill/>
          <a:ln/>
        </p:spPr>
        <p:txBody>
          <a:bodyPr wrap="square" rtlCol="0" anchor="ctr"/>
          <a:lstStyle/>
          <a:p>
            <a:pPr marL="0" indent="0">
              <a:buNone/>
            </a:pPr>
            <a:r>
              <a:rPr lang="en-US" sz="2000" b="1" dirty="0">
                <a:solidFill>
                  <a:srgbClr val="EEE8D8"/>
                </a:solidFill>
                <a:latin typeface="Georgia" pitchFamily="34" charset="0"/>
                <a:ea typeface="Georgia" pitchFamily="34" charset="-122"/>
                <a:cs typeface="Georgia" pitchFamily="34" charset="-120"/>
              </a:rPr>
              <a:t>36 findings. 5 critical. All critical findings are externally reachable.</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6931152" cy="3712464"/>
        </p:xfrm>
        <a:graphic>
          <a:graphicData uri="http://schemas.openxmlformats.org/drawingml/2006/table">
            <a:tbl>
              <a:tblPr/>
              <a:tblGrid>
                <a:gridCol w="5486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265176">
                <a:tc>
                  <a:txBody>
                    <a:bodyPr/>
                    <a:lstStyle/>
                    <a:p>
                      <a:pPr marL="0" indent="0">
                        <a:buNone/>
                      </a:pPr>
                      <a:r>
                        <a:rPr lang="en-US" sz="800" b="1" kern="0" spc="200" dirty="0">
                          <a:solidFill>
                            <a:srgbClr val="8A8A9A"/>
                          </a:solidFill>
                        </a:rPr>
                        <a:t>ID</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kern="0" spc="200" dirty="0">
                          <a:solidFill>
                            <a:srgbClr val="8A8A9A"/>
                          </a:solidFill>
                        </a:rPr>
                        <a:t>FINDING</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kern="0" spc="200" dirty="0">
                          <a:solidFill>
                            <a:srgbClr val="8A8A9A"/>
                          </a:solidFill>
                        </a:rPr>
                        <a:t>SEV</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kern="0" spc="200" dirty="0">
                          <a:solidFill>
                            <a:srgbClr val="8A8A9A"/>
                          </a:solidFill>
                        </a:rPr>
                        <a:t>CVSS</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kern="0" spc="200" dirty="0">
                          <a:solidFill>
                            <a:srgbClr val="8A8A9A"/>
                          </a:solidFill>
                        </a:rPr>
                        <a:t>REGULATORY IMPACT</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0"/>
                  </a:ext>
                </a:extLst>
              </a:tr>
              <a:tr h="265176">
                <a:tc>
                  <a:txBody>
                    <a:bodyPr/>
                    <a:lstStyle/>
                    <a:p>
                      <a:pPr marL="0" indent="0">
                        <a:buNone/>
                      </a:pPr>
                      <a:r>
                        <a:rPr lang="en-US" sz="950" dirty="0">
                          <a:solidFill>
                            <a:srgbClr val="C8C4B8"/>
                          </a:solidFill>
                        </a:rPr>
                        <a:t>F-001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SQL Injection — Public Retail Banking API (CVE-2025-1849)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FFFFFF"/>
                          </a:solidFill>
                        </a:rPr>
                        <a:t>CRITICAL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tc>
                  <a:txBody>
                    <a:bodyPr/>
                    <a:lstStyle/>
                    <a:p>
                      <a:pPr marL="0" indent="0">
                        <a:buNone/>
                      </a:pPr>
                      <a:r>
                        <a:rPr lang="en-US" sz="950" dirty="0">
                          <a:solidFill>
                            <a:srgbClr val="C8C4B8"/>
                          </a:solidFill>
                        </a:rPr>
                        <a:t>9.9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FCA/DORA — direct data breach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1"/>
                  </a:ext>
                </a:extLst>
              </a:tr>
              <a:tr h="265176">
                <a:tc>
                  <a:txBody>
                    <a:bodyPr/>
                    <a:lstStyle/>
                    <a:p>
                      <a:pPr marL="0" indent="0">
                        <a:buNone/>
                      </a:pPr>
                      <a:r>
                        <a:rPr lang="en-US" sz="950" dirty="0">
                          <a:solidFill>
                            <a:srgbClr val="C8C4B8"/>
                          </a:solidFill>
                        </a:rPr>
                        <a:t>F-002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SWIFT Operator Role Reachable via AD Lateral Movement</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FFFFFF"/>
                          </a:solidFill>
                        </a:rPr>
                        <a:t>CRITICAL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tc>
                  <a:txBody>
                    <a:bodyPr/>
                    <a:lstStyle/>
                    <a:p>
                      <a:pPr marL="0" indent="0">
                        <a:buNone/>
                      </a:pPr>
                      <a:r>
                        <a:rPr lang="en-US" sz="950" dirty="0">
                          <a:solidFill>
                            <a:srgbClr val="C8C4B8"/>
                          </a:solidFill>
                        </a:rPr>
                        <a:t>9.7</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PRA SS2/21 — transaction fraud</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2"/>
                  </a:ext>
                </a:extLst>
              </a:tr>
              <a:tr h="265176">
                <a:tc>
                  <a:txBody>
                    <a:bodyPr/>
                    <a:lstStyle/>
                    <a:p>
                      <a:pPr marL="0" indent="0">
                        <a:buNone/>
                      </a:pPr>
                      <a:r>
                        <a:rPr lang="en-US" sz="950" dirty="0">
                          <a:solidFill>
                            <a:srgbClr val="C8C4B8"/>
                          </a:solidFill>
                        </a:rPr>
                        <a:t>F-003</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Unauthenticated Access to Core Banking Admin Console</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FFFFFF"/>
                          </a:solidFill>
                        </a:rPr>
                        <a:t>CRITICAL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tc>
                  <a:txBody>
                    <a:bodyPr/>
                    <a:lstStyle/>
                    <a:p>
                      <a:pPr marL="0" indent="0">
                        <a:buNone/>
                      </a:pPr>
                      <a:r>
                        <a:rPr lang="en-US" sz="950" dirty="0">
                          <a:solidFill>
                            <a:srgbClr val="C8C4B8"/>
                          </a:solidFill>
                        </a:rPr>
                        <a:t>9.5</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FCA Operational Resilience</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3"/>
                  </a:ext>
                </a:extLst>
              </a:tr>
              <a:tr h="265176">
                <a:tc>
                  <a:txBody>
                    <a:bodyPr/>
                    <a:lstStyle/>
                    <a:p>
                      <a:pPr marL="0" indent="0">
                        <a:buNone/>
                      </a:pPr>
                      <a:r>
                        <a:rPr lang="en-US" sz="950" dirty="0">
                          <a:solidFill>
                            <a:srgbClr val="C8C4B8"/>
                          </a:solidFill>
                        </a:rPr>
                        <a:t>F-004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AD Domain Compromise — Unconstrained Delegation</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FFFFFF"/>
                          </a:solidFill>
                        </a:rPr>
                        <a:t>CRITICAL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tc>
                  <a:txBody>
                    <a:bodyPr/>
                    <a:lstStyle/>
                    <a:p>
                      <a:pPr marL="0" indent="0">
                        <a:buNone/>
                      </a:pPr>
                      <a:r>
                        <a:rPr lang="en-US" sz="950" dirty="0">
                          <a:solidFill>
                            <a:srgbClr val="C8C4B8"/>
                          </a:solidFill>
                        </a:rPr>
                        <a:t>9.1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PCI DSS 4.0 — Req 8</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4"/>
                  </a:ext>
                </a:extLst>
              </a:tr>
              <a:tr h="265176">
                <a:tc>
                  <a:txBody>
                    <a:bodyPr/>
                    <a:lstStyle/>
                    <a:p>
                      <a:pPr marL="0" indent="0">
                        <a:buNone/>
                      </a:pPr>
                      <a:r>
                        <a:rPr lang="en-US" sz="950" dirty="0">
                          <a:solidFill>
                            <a:srgbClr val="C8C4B8"/>
                          </a:solidFill>
                        </a:rPr>
                        <a:t>F-005</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Exposed AWS S3 — AML/Transaction Archive (6 years)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FFFFFF"/>
                          </a:solidFill>
                        </a:rPr>
                        <a:t>CRITICAL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tc>
                  <a:txBody>
                    <a:bodyPr/>
                    <a:lstStyle/>
                    <a:p>
                      <a:pPr marL="0" indent="0">
                        <a:buNone/>
                      </a:pPr>
                      <a:r>
                        <a:rPr lang="en-US" sz="950" dirty="0">
                          <a:solidFill>
                            <a:srgbClr val="C8C4B8"/>
                          </a:solidFill>
                        </a:rPr>
                        <a:t>8.9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GDPR Art. 32 / FCA COBS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5"/>
                  </a:ext>
                </a:extLst>
              </a:tr>
              <a:tr h="265176">
                <a:tc>
                  <a:txBody>
                    <a:bodyPr/>
                    <a:lstStyle/>
                    <a:p>
                      <a:pPr marL="0" indent="0">
                        <a:buNone/>
                      </a:pPr>
                      <a:r>
                        <a:rPr lang="en-US" sz="950" dirty="0">
                          <a:solidFill>
                            <a:srgbClr val="C8C4B8"/>
                          </a:solidFill>
                        </a:rPr>
                        <a:t>F-006</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No MFA on Citrix / Remote Access (All Staff)</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8.5</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PCI DSS 4.0 — Req 8.4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6"/>
                  </a:ext>
                </a:extLst>
              </a:tr>
              <a:tr h="265176">
                <a:tc>
                  <a:txBody>
                    <a:bodyPr/>
                    <a:lstStyle/>
                    <a:p>
                      <a:pPr marL="0" indent="0">
                        <a:buNone/>
                      </a:pPr>
                      <a:r>
                        <a:rPr lang="en-US" sz="950" dirty="0">
                          <a:solidFill>
                            <a:srgbClr val="C8C4B8"/>
                          </a:solidFill>
                        </a:rPr>
                        <a:t>F-007</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Kerberoastable SWIFT Service Account — Weak Password</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8.3</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SS2/21 — logical access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7"/>
                  </a:ext>
                </a:extLst>
              </a:tr>
              <a:tr h="265176">
                <a:tc>
                  <a:txBody>
                    <a:bodyPr/>
                    <a:lstStyle/>
                    <a:p>
                      <a:pPr marL="0" indent="0">
                        <a:buNone/>
                      </a:pPr>
                      <a:r>
                        <a:rPr lang="en-US" sz="950" dirty="0">
                          <a:solidFill>
                            <a:srgbClr val="C8C4B8"/>
                          </a:solidFill>
                        </a:rPr>
                        <a:t>F-008</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No East-West Segmentation — SWIFT Zone / Corp Network</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8.0</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SWIFT CSP Control 1.1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8"/>
                  </a:ext>
                </a:extLst>
              </a:tr>
              <a:tr h="265176">
                <a:tc>
                  <a:txBody>
                    <a:bodyPr/>
                    <a:lstStyle/>
                    <a:p>
                      <a:pPr marL="0" indent="0">
                        <a:buNone/>
                      </a:pPr>
                      <a:r>
                        <a:rPr lang="en-US" sz="950" dirty="0">
                          <a:solidFill>
                            <a:srgbClr val="C8C4B8"/>
                          </a:solidFill>
                        </a:rPr>
                        <a:t>F-009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Unpatched Citrix ADC (CVE-2024-8069)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7.7</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FCA SYSC 8.1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9"/>
                  </a:ext>
                </a:extLst>
              </a:tr>
              <a:tr h="265176">
                <a:tc>
                  <a:txBody>
                    <a:bodyPr/>
                    <a:lstStyle/>
                    <a:p>
                      <a:pPr marL="0" indent="0">
                        <a:buNone/>
                      </a:pPr>
                      <a:r>
                        <a:rPr lang="en-US" sz="950" dirty="0">
                          <a:solidFill>
                            <a:srgbClr val="C8C4B8"/>
                          </a:solidFill>
                        </a:rPr>
                        <a:t>F-010</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ATM Network Reachable from Corporate LAN</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7.5</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PCI DSS 4.0 — Req 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10"/>
                  </a:ext>
                </a:extLst>
              </a:tr>
              <a:tr h="265176">
                <a:tc>
                  <a:txBody>
                    <a:bodyPr/>
                    <a:lstStyle/>
                    <a:p>
                      <a:pPr marL="0" indent="0">
                        <a:buNone/>
                      </a:pPr>
                      <a:r>
                        <a:rPr lang="en-US" sz="950" dirty="0">
                          <a:solidFill>
                            <a:srgbClr val="C8C4B8"/>
                          </a:solidFill>
                        </a:rPr>
                        <a:t>F-011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Default Credentials on Network Management Devices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E07B30"/>
                          </a:solidFill>
                        </a:rPr>
                        <a:t>HIGH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7.2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ISO 27001 A.9.4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11"/>
                  </a:ext>
                </a:extLst>
              </a:tr>
              <a:tr h="265176">
                <a:tc>
                  <a:txBody>
                    <a:bodyPr/>
                    <a:lstStyle/>
                    <a:p>
                      <a:pPr marL="0" indent="0">
                        <a:buNone/>
                      </a:pPr>
                      <a:r>
                        <a:rPr lang="en-US" sz="950" dirty="0">
                          <a:solidFill>
                            <a:srgbClr val="C8C4B8"/>
                          </a:solidFill>
                        </a:rPr>
                        <a:t>F-012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TLS 1.0/1.1 on Internet Banking Portal</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C97B2A"/>
                          </a:solidFill>
                        </a:rPr>
                        <a:t>MEDIUM</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5.9</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PCI DSS 4.0 — Req 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12"/>
                  </a:ext>
                </a:extLst>
              </a:tr>
              <a:tr h="265176">
                <a:tc>
                  <a:txBody>
                    <a:bodyPr/>
                    <a:lstStyle/>
                    <a:p>
                      <a:pPr marL="0" indent="0">
                        <a:buNone/>
                      </a:pPr>
                      <a:r>
                        <a:rPr lang="en-US" sz="950" dirty="0">
                          <a:solidFill>
                            <a:srgbClr val="C8C4B8"/>
                          </a:solidFill>
                        </a:rPr>
                        <a:t>F-013</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CORS Misconfiguration — Open Origin on API Gateway</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b="1" dirty="0">
                          <a:solidFill>
                            <a:srgbClr val="C97B2A"/>
                          </a:solidFill>
                        </a:rPr>
                        <a:t>MEDIUM</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5.4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OWASP API Top 10</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13"/>
                  </a:ext>
                </a:extLst>
              </a:tr>
            </a:tbl>
          </a:graphicData>
        </a:graphic>
      </p:graphicFrame>
      <p:sp>
        <p:nvSpPr>
          <p:cNvPr id="6" name="Shape 3"/>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7" name="Text 4"/>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04  CRITICAL FINDING — F-001</a:t>
            </a:r>
            <a:endParaRPr lang="en-US" sz="800" dirty="0"/>
          </a:p>
        </p:txBody>
      </p:sp>
      <p:sp>
        <p:nvSpPr>
          <p:cNvPr id="4" name="Shape 2"/>
          <p:cNvSpPr/>
          <p:nvPr/>
        </p:nvSpPr>
        <p:spPr>
          <a:xfrm>
            <a:off x="274320" y="475488"/>
            <a:ext cx="8595360" cy="4407408"/>
          </a:xfrm>
          <a:prstGeom prst="rect">
            <a:avLst/>
          </a:prstGeom>
          <a:solidFill>
            <a:srgbClr val="112240"/>
          </a:solidFill>
          <a:ln w="12700">
            <a:solidFill>
              <a:srgbClr val="2A3045"/>
            </a:solidFill>
            <a:prstDash val="solid"/>
          </a:ln>
        </p:spPr>
        <p:txBody>
          <a:bodyPr/>
          <a:lstStyle/>
          <a:p>
            <a:endParaRPr lang="en-GB"/>
          </a:p>
        </p:txBody>
      </p:sp>
      <p:sp>
        <p:nvSpPr>
          <p:cNvPr id="5" name="Shape 3"/>
          <p:cNvSpPr/>
          <p:nvPr/>
        </p:nvSpPr>
        <p:spPr>
          <a:xfrm>
            <a:off x="274320" y="475488"/>
            <a:ext cx="8595360" cy="566928"/>
          </a:xfrm>
          <a:prstGeom prst="rect">
            <a:avLst/>
          </a:prstGeom>
          <a:solidFill>
            <a:srgbClr val="160808"/>
          </a:solidFill>
          <a:ln w="12700">
            <a:solidFill>
              <a:srgbClr val="2A3045"/>
            </a:solidFill>
            <a:prstDash val="solid"/>
          </a:ln>
        </p:spPr>
        <p:txBody>
          <a:bodyPr/>
          <a:lstStyle/>
          <a:p>
            <a:endParaRPr lang="en-GB"/>
          </a:p>
        </p:txBody>
      </p:sp>
      <p:sp>
        <p:nvSpPr>
          <p:cNvPr id="6" name="Shape 4"/>
          <p:cNvSpPr/>
          <p:nvPr/>
        </p:nvSpPr>
        <p:spPr>
          <a:xfrm>
            <a:off x="274320" y="475488"/>
            <a:ext cx="8595360" cy="50292"/>
          </a:xfrm>
          <a:prstGeom prst="rect">
            <a:avLst/>
          </a:prstGeom>
          <a:solidFill>
            <a:srgbClr val="B33A3A"/>
          </a:solidFill>
          <a:ln w="12700">
            <a:solidFill>
              <a:srgbClr val="B33A3A"/>
            </a:solidFill>
            <a:prstDash val="solid"/>
          </a:ln>
        </p:spPr>
        <p:txBody>
          <a:bodyPr/>
          <a:lstStyle/>
          <a:p>
            <a:endParaRPr lang="en-GB"/>
          </a:p>
        </p:txBody>
      </p:sp>
      <p:sp>
        <p:nvSpPr>
          <p:cNvPr id="7" name="Text 5"/>
          <p:cNvSpPr/>
          <p:nvPr/>
        </p:nvSpPr>
        <p:spPr>
          <a:xfrm>
            <a:off x="457200" y="521208"/>
            <a:ext cx="914400" cy="182880"/>
          </a:xfrm>
          <a:prstGeom prst="rect">
            <a:avLst/>
          </a:prstGeom>
          <a:noFill/>
          <a:ln/>
        </p:spPr>
        <p:txBody>
          <a:bodyPr wrap="square" rtlCol="0" anchor="ctr"/>
          <a:lstStyle/>
          <a:p>
            <a:pPr marL="0" indent="0">
              <a:buNone/>
            </a:pPr>
            <a:r>
              <a:rPr lang="en-US" sz="800" dirty="0">
                <a:solidFill>
                  <a:srgbClr val="8A8A9A"/>
                </a:solidFill>
              </a:rPr>
              <a:t>F-001</a:t>
            </a:r>
            <a:endParaRPr lang="en-US" sz="800" dirty="0"/>
          </a:p>
        </p:txBody>
      </p:sp>
      <p:sp>
        <p:nvSpPr>
          <p:cNvPr id="8" name="Text 6"/>
          <p:cNvSpPr/>
          <p:nvPr/>
        </p:nvSpPr>
        <p:spPr>
          <a:xfrm>
            <a:off x="457200" y="685800"/>
            <a:ext cx="6583680" cy="256032"/>
          </a:xfrm>
          <a:prstGeom prst="rect">
            <a:avLst/>
          </a:prstGeom>
          <a:noFill/>
          <a:ln/>
        </p:spPr>
        <p:txBody>
          <a:bodyPr wrap="square" rtlCol="0" anchor="ctr"/>
          <a:lstStyle/>
          <a:p>
            <a:pPr marL="0" indent="0">
              <a:buNone/>
            </a:pPr>
            <a:r>
              <a:rPr lang="en-US" sz="1250" b="1" dirty="0">
                <a:solidFill>
                  <a:srgbClr val="EEE8D8"/>
                </a:solidFill>
                <a:latin typeface="Consolas" pitchFamily="34" charset="0"/>
                <a:ea typeface="Consolas" pitchFamily="34" charset="-122"/>
                <a:cs typeface="Consolas" pitchFamily="34" charset="-120"/>
              </a:rPr>
              <a:t>SQL Injection — Public Retail Banking API (CVE-2025-1849)</a:t>
            </a:r>
            <a:endParaRPr lang="en-US" sz="1250" dirty="0"/>
          </a:p>
        </p:txBody>
      </p:sp>
      <p:sp>
        <p:nvSpPr>
          <p:cNvPr id="9" name="Shape 7"/>
          <p:cNvSpPr/>
          <p:nvPr/>
        </p:nvSpPr>
        <p:spPr>
          <a:xfrm>
            <a:off x="7543800" y="576072"/>
            <a:ext cx="1188720" cy="274320"/>
          </a:xfrm>
          <a:prstGeom prst="rect">
            <a:avLst/>
          </a:prstGeom>
          <a:solidFill>
            <a:srgbClr val="B33A3A"/>
          </a:solidFill>
          <a:ln w="12700">
            <a:solidFill>
              <a:srgbClr val="B33A3A"/>
            </a:solidFill>
            <a:prstDash val="solid"/>
          </a:ln>
        </p:spPr>
        <p:txBody>
          <a:bodyPr/>
          <a:lstStyle/>
          <a:p>
            <a:endParaRPr lang="en-GB"/>
          </a:p>
        </p:txBody>
      </p:sp>
      <p:sp>
        <p:nvSpPr>
          <p:cNvPr id="10" name="Text 8"/>
          <p:cNvSpPr/>
          <p:nvPr/>
        </p:nvSpPr>
        <p:spPr>
          <a:xfrm>
            <a:off x="7543800" y="576072"/>
            <a:ext cx="1188720" cy="274320"/>
          </a:xfrm>
          <a:prstGeom prst="rect">
            <a:avLst/>
          </a:prstGeom>
          <a:noFill/>
          <a:ln/>
        </p:spPr>
        <p:txBody>
          <a:bodyPr wrap="square" rtlCol="0" anchor="ctr"/>
          <a:lstStyle/>
          <a:p>
            <a:pPr marL="0" indent="0" algn="ctr">
              <a:buNone/>
            </a:pPr>
            <a:r>
              <a:rPr lang="en-US" sz="800" b="1" dirty="0">
                <a:solidFill>
                  <a:srgbClr val="FFFFFF"/>
                </a:solidFill>
              </a:rPr>
              <a:t>CRITICAL  9.9</a:t>
            </a:r>
            <a:endParaRPr lang="en-US" sz="800" dirty="0"/>
          </a:p>
        </p:txBody>
      </p:sp>
      <p:sp>
        <p:nvSpPr>
          <p:cNvPr id="11" name="Text 9"/>
          <p:cNvSpPr/>
          <p:nvPr/>
        </p:nvSpPr>
        <p:spPr>
          <a:xfrm>
            <a:off x="457200" y="1170432"/>
            <a:ext cx="5303520" cy="1691640"/>
          </a:xfrm>
          <a:prstGeom prst="rect">
            <a:avLst/>
          </a:prstGeom>
          <a:noFill/>
          <a:ln/>
        </p:spPr>
        <p:txBody>
          <a:bodyPr wrap="square" rtlCol="0" anchor="ctr"/>
          <a:lstStyle/>
          <a:p>
            <a:pPr marL="0" indent="0">
              <a:lnSpc>
                <a:spcPct val="150000"/>
              </a:lnSpc>
              <a:buNone/>
            </a:pPr>
            <a:r>
              <a:rPr lang="en-US" sz="1000" dirty="0">
                <a:solidFill>
                  <a:srgbClr val="C8C4B8"/>
                </a:solidFill>
              </a:rPr>
              <a:t>The public-facing account balance API endpoint at /api/v1/accounts/balance accepts unsanitised input in the account_ref parameter. Error-based SQL injection against the underlying PostgreSQL 14 database was confirmed within 4 minutes.</a:t>
            </a:r>
            <a:endParaRPr lang="en-US" sz="1000" dirty="0"/>
          </a:p>
          <a:p>
            <a:pPr marL="0" indent="0">
              <a:lnSpc>
                <a:spcPct val="150000"/>
              </a:lnSpc>
              <a:buNone/>
            </a:pPr>
            <a:endParaRPr lang="en-US" sz="1000" dirty="0"/>
          </a:p>
          <a:p>
            <a:pPr marL="0" indent="0">
              <a:lnSpc>
                <a:spcPct val="150000"/>
              </a:lnSpc>
              <a:buNone/>
            </a:pPr>
            <a:r>
              <a:rPr lang="en-US" sz="1000" dirty="0">
                <a:solidFill>
                  <a:srgbClr val="C8C4B8"/>
                </a:solidFill>
              </a:rPr>
              <a:t>The database user carries SUPERUSER privileges. Assessors extracted a sample of 10,000 customer records (full name, sort code, account number, transaction history, PEP/sanctions flags) to confirm exploitability. Full exfiltration of 1M records is achievable in under 2 hours on a standard connection.</a:t>
            </a:r>
            <a:endParaRPr lang="en-US" sz="1000" dirty="0"/>
          </a:p>
        </p:txBody>
      </p:sp>
      <p:sp>
        <p:nvSpPr>
          <p:cNvPr id="12" name="Shape 10"/>
          <p:cNvSpPr/>
          <p:nvPr/>
        </p:nvSpPr>
        <p:spPr>
          <a:xfrm>
            <a:off x="457200" y="2971800"/>
            <a:ext cx="5303520" cy="475488"/>
          </a:xfrm>
          <a:prstGeom prst="rect">
            <a:avLst/>
          </a:prstGeom>
          <a:solidFill>
            <a:srgbClr val="0B1628"/>
          </a:solidFill>
          <a:ln w="12700">
            <a:solidFill>
              <a:srgbClr val="2A3045"/>
            </a:solidFill>
            <a:prstDash val="solid"/>
          </a:ln>
        </p:spPr>
        <p:txBody>
          <a:bodyPr/>
          <a:lstStyle/>
          <a:p>
            <a:endParaRPr lang="en-GB"/>
          </a:p>
        </p:txBody>
      </p:sp>
      <p:sp>
        <p:nvSpPr>
          <p:cNvPr id="13" name="Text 11"/>
          <p:cNvSpPr/>
          <p:nvPr/>
        </p:nvSpPr>
        <p:spPr>
          <a:xfrm>
            <a:off x="502920" y="3008376"/>
            <a:ext cx="5212080" cy="402336"/>
          </a:xfrm>
          <a:prstGeom prst="rect">
            <a:avLst/>
          </a:prstGeom>
          <a:noFill/>
          <a:ln/>
        </p:spPr>
        <p:txBody>
          <a:bodyPr wrap="square" rtlCol="0" anchor="ctr"/>
          <a:lstStyle/>
          <a:p>
            <a:pPr marL="0" indent="0">
              <a:lnSpc>
                <a:spcPct val="135000"/>
              </a:lnSpc>
              <a:buNone/>
            </a:pPr>
            <a:r>
              <a:rPr lang="en-US" sz="780" dirty="0">
                <a:solidFill>
                  <a:srgbClr val="E8B84B"/>
                </a:solidFill>
                <a:latin typeface="Consolas" pitchFamily="34" charset="0"/>
                <a:ea typeface="Consolas" pitchFamily="34" charset="-122"/>
                <a:cs typeface="Consolas" pitchFamily="34" charset="-120"/>
              </a:rPr>
              <a:t>GET /api/v3/accounts/balance?account_ref=1' AND 1=1--</a:t>
            </a:r>
            <a:endParaRPr lang="en-US" sz="780" dirty="0"/>
          </a:p>
          <a:p>
            <a:pPr marL="0" indent="0">
              <a:lnSpc>
                <a:spcPct val="135000"/>
              </a:lnSpc>
              <a:buNone/>
            </a:pPr>
            <a:r>
              <a:rPr lang="en-US" sz="780" dirty="0">
                <a:solidFill>
                  <a:srgbClr val="E8B84B"/>
                </a:solidFill>
                <a:latin typeface="Consolas" pitchFamily="34" charset="0"/>
                <a:ea typeface="Consolas" pitchFamily="34" charset="-122"/>
                <a:cs typeface="Consolas" pitchFamily="34" charset="-120"/>
              </a:rPr>
              <a:t># PostgreSQL 14.11 returned via type-cast error — SUPERUSER confirmed</a:t>
            </a:r>
            <a:endParaRPr lang="en-US" sz="780" dirty="0"/>
          </a:p>
        </p:txBody>
      </p:sp>
      <p:sp>
        <p:nvSpPr>
          <p:cNvPr id="14" name="Text 12"/>
          <p:cNvSpPr/>
          <p:nvPr/>
        </p:nvSpPr>
        <p:spPr>
          <a:xfrm>
            <a:off x="457200" y="3547872"/>
            <a:ext cx="5303520" cy="201168"/>
          </a:xfrm>
          <a:prstGeom prst="rect">
            <a:avLst/>
          </a:prstGeom>
          <a:noFill/>
          <a:ln/>
        </p:spPr>
        <p:txBody>
          <a:bodyPr wrap="square" rtlCol="0" anchor="ctr"/>
          <a:lstStyle/>
          <a:p>
            <a:pPr marL="0" indent="0">
              <a:buNone/>
            </a:pPr>
            <a:r>
              <a:rPr lang="en-US" sz="750" kern="0" spc="200" dirty="0">
                <a:solidFill>
                  <a:srgbClr val="8A8A9A"/>
                </a:solidFill>
              </a:rPr>
              <a:t>REGULATORY EXPOSURE</a:t>
            </a:r>
            <a:endParaRPr lang="en-US" sz="750" dirty="0"/>
          </a:p>
        </p:txBody>
      </p:sp>
      <p:sp>
        <p:nvSpPr>
          <p:cNvPr id="15" name="Text 13"/>
          <p:cNvSpPr/>
          <p:nvPr/>
        </p:nvSpPr>
        <p:spPr>
          <a:xfrm>
            <a:off x="457200" y="3767328"/>
            <a:ext cx="5303520" cy="658368"/>
          </a:xfrm>
          <a:prstGeom prst="rect">
            <a:avLst/>
          </a:prstGeom>
          <a:noFill/>
          <a:ln/>
        </p:spPr>
        <p:txBody>
          <a:bodyPr wrap="square" rtlCol="0" anchor="ctr"/>
          <a:lstStyle/>
          <a:p>
            <a:pPr marL="0" indent="0">
              <a:lnSpc>
                <a:spcPct val="150000"/>
              </a:lnSpc>
              <a:buNone/>
            </a:pPr>
            <a:r>
              <a:rPr lang="en-US" sz="950" dirty="0">
                <a:solidFill>
                  <a:srgbClr val="C8C4B8"/>
                </a:solidFill>
              </a:rPr>
              <a:t>Automatic FCA/ICO breach notification required within 72 hours of discovery. GDPR Art. 83(4) fines up to €10M or 2% global turnover. FCA COBS 2.1 — customer data protection obligation breached.</a:t>
            </a:r>
            <a:endParaRPr lang="en-US" sz="950" dirty="0"/>
          </a:p>
        </p:txBody>
      </p:sp>
      <p:sp>
        <p:nvSpPr>
          <p:cNvPr id="16" name="Shape 14"/>
          <p:cNvSpPr/>
          <p:nvPr/>
        </p:nvSpPr>
        <p:spPr>
          <a:xfrm>
            <a:off x="5989320" y="1170432"/>
            <a:ext cx="2743200" cy="402336"/>
          </a:xfrm>
          <a:prstGeom prst="rect">
            <a:avLst/>
          </a:prstGeom>
          <a:solidFill>
            <a:srgbClr val="0B1628"/>
          </a:solidFill>
          <a:ln w="12700">
            <a:solidFill>
              <a:srgbClr val="2A3045"/>
            </a:solidFill>
            <a:prstDash val="solid"/>
          </a:ln>
        </p:spPr>
        <p:txBody>
          <a:bodyPr/>
          <a:lstStyle/>
          <a:p>
            <a:endParaRPr lang="en-GB"/>
          </a:p>
        </p:txBody>
      </p:sp>
      <p:sp>
        <p:nvSpPr>
          <p:cNvPr id="17" name="Text 15"/>
          <p:cNvSpPr/>
          <p:nvPr/>
        </p:nvSpPr>
        <p:spPr>
          <a:xfrm>
            <a:off x="6080760" y="1207008"/>
            <a:ext cx="1188720" cy="164592"/>
          </a:xfrm>
          <a:prstGeom prst="rect">
            <a:avLst/>
          </a:prstGeom>
          <a:noFill/>
          <a:ln/>
        </p:spPr>
        <p:txBody>
          <a:bodyPr wrap="square" rtlCol="0" anchor="ctr"/>
          <a:lstStyle/>
          <a:p>
            <a:pPr marL="0" indent="0">
              <a:buNone/>
            </a:pPr>
            <a:r>
              <a:rPr lang="en-US" sz="750" kern="0" spc="150" dirty="0">
                <a:solidFill>
                  <a:srgbClr val="8A8A9A"/>
                </a:solidFill>
              </a:rPr>
              <a:t>CVSS VECTOR</a:t>
            </a:r>
            <a:endParaRPr lang="en-US" sz="750" dirty="0"/>
          </a:p>
        </p:txBody>
      </p:sp>
      <p:sp>
        <p:nvSpPr>
          <p:cNvPr id="18" name="Text 16"/>
          <p:cNvSpPr/>
          <p:nvPr/>
        </p:nvSpPr>
        <p:spPr>
          <a:xfrm>
            <a:off x="6080760" y="1371600"/>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AV:N/AC:L/PR:N/UI:N</a:t>
            </a:r>
            <a:endParaRPr lang="en-US" sz="900" dirty="0"/>
          </a:p>
        </p:txBody>
      </p:sp>
      <p:sp>
        <p:nvSpPr>
          <p:cNvPr id="19" name="Shape 17"/>
          <p:cNvSpPr/>
          <p:nvPr/>
        </p:nvSpPr>
        <p:spPr>
          <a:xfrm>
            <a:off x="5989320" y="1591056"/>
            <a:ext cx="2743200" cy="402336"/>
          </a:xfrm>
          <a:prstGeom prst="rect">
            <a:avLst/>
          </a:prstGeom>
          <a:solidFill>
            <a:srgbClr val="0B1628"/>
          </a:solidFill>
          <a:ln w="12700">
            <a:solidFill>
              <a:srgbClr val="2A3045"/>
            </a:solidFill>
            <a:prstDash val="solid"/>
          </a:ln>
        </p:spPr>
        <p:txBody>
          <a:bodyPr/>
          <a:lstStyle/>
          <a:p>
            <a:endParaRPr lang="en-GB"/>
          </a:p>
        </p:txBody>
      </p:sp>
      <p:sp>
        <p:nvSpPr>
          <p:cNvPr id="20" name="Text 18"/>
          <p:cNvSpPr/>
          <p:nvPr/>
        </p:nvSpPr>
        <p:spPr>
          <a:xfrm>
            <a:off x="6080760" y="1627632"/>
            <a:ext cx="1188720" cy="164592"/>
          </a:xfrm>
          <a:prstGeom prst="rect">
            <a:avLst/>
          </a:prstGeom>
          <a:noFill/>
          <a:ln/>
        </p:spPr>
        <p:txBody>
          <a:bodyPr wrap="square" rtlCol="0" anchor="ctr"/>
          <a:lstStyle/>
          <a:p>
            <a:pPr marL="0" indent="0">
              <a:buNone/>
            </a:pPr>
            <a:r>
              <a:rPr lang="en-US" sz="750" kern="0" spc="150" dirty="0">
                <a:solidFill>
                  <a:srgbClr val="8A8A9A"/>
                </a:solidFill>
              </a:rPr>
              <a:t>ENDPOINT</a:t>
            </a:r>
            <a:endParaRPr lang="en-US" sz="750" dirty="0"/>
          </a:p>
        </p:txBody>
      </p:sp>
      <p:sp>
        <p:nvSpPr>
          <p:cNvPr id="21" name="Text 19"/>
          <p:cNvSpPr/>
          <p:nvPr/>
        </p:nvSpPr>
        <p:spPr>
          <a:xfrm>
            <a:off x="6080760" y="1792224"/>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/api/v1/accounts/balance</a:t>
            </a:r>
            <a:endParaRPr lang="en-US" sz="900" dirty="0"/>
          </a:p>
        </p:txBody>
      </p:sp>
      <p:sp>
        <p:nvSpPr>
          <p:cNvPr id="22" name="Shape 20"/>
          <p:cNvSpPr/>
          <p:nvPr/>
        </p:nvSpPr>
        <p:spPr>
          <a:xfrm>
            <a:off x="5989320" y="2011680"/>
            <a:ext cx="2743200" cy="402336"/>
          </a:xfrm>
          <a:prstGeom prst="rect">
            <a:avLst/>
          </a:prstGeom>
          <a:solidFill>
            <a:srgbClr val="0B1628"/>
          </a:solidFill>
          <a:ln w="12700">
            <a:solidFill>
              <a:srgbClr val="2A3045"/>
            </a:solidFill>
            <a:prstDash val="solid"/>
          </a:ln>
        </p:spPr>
        <p:txBody>
          <a:bodyPr/>
          <a:lstStyle/>
          <a:p>
            <a:endParaRPr lang="en-GB"/>
          </a:p>
        </p:txBody>
      </p:sp>
      <p:sp>
        <p:nvSpPr>
          <p:cNvPr id="23" name="Text 21"/>
          <p:cNvSpPr/>
          <p:nvPr/>
        </p:nvSpPr>
        <p:spPr>
          <a:xfrm>
            <a:off x="6080760" y="2048256"/>
            <a:ext cx="1188720" cy="164592"/>
          </a:xfrm>
          <a:prstGeom prst="rect">
            <a:avLst/>
          </a:prstGeom>
          <a:noFill/>
          <a:ln/>
        </p:spPr>
        <p:txBody>
          <a:bodyPr wrap="square" rtlCol="0" anchor="ctr"/>
          <a:lstStyle/>
          <a:p>
            <a:pPr marL="0" indent="0">
              <a:buNone/>
            </a:pPr>
            <a:r>
              <a:rPr lang="en-US" sz="750" kern="0" spc="150" dirty="0">
                <a:solidFill>
                  <a:srgbClr val="8A8A9A"/>
                </a:solidFill>
              </a:rPr>
              <a:t>DB ENGINE</a:t>
            </a:r>
            <a:endParaRPr lang="en-US" sz="750" dirty="0"/>
          </a:p>
        </p:txBody>
      </p:sp>
      <p:sp>
        <p:nvSpPr>
          <p:cNvPr id="24" name="Text 22"/>
          <p:cNvSpPr/>
          <p:nvPr/>
        </p:nvSpPr>
        <p:spPr>
          <a:xfrm>
            <a:off x="6080760" y="2212848"/>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PostgreSQL 14.11</a:t>
            </a:r>
            <a:endParaRPr lang="en-US" sz="900" dirty="0"/>
          </a:p>
        </p:txBody>
      </p:sp>
      <p:sp>
        <p:nvSpPr>
          <p:cNvPr id="25" name="Shape 23"/>
          <p:cNvSpPr/>
          <p:nvPr/>
        </p:nvSpPr>
        <p:spPr>
          <a:xfrm>
            <a:off x="5989320" y="2432304"/>
            <a:ext cx="2743200" cy="402336"/>
          </a:xfrm>
          <a:prstGeom prst="rect">
            <a:avLst/>
          </a:prstGeom>
          <a:solidFill>
            <a:srgbClr val="0B1628"/>
          </a:solidFill>
          <a:ln w="12700">
            <a:solidFill>
              <a:srgbClr val="2A3045"/>
            </a:solidFill>
            <a:prstDash val="solid"/>
          </a:ln>
        </p:spPr>
        <p:txBody>
          <a:bodyPr/>
          <a:lstStyle/>
          <a:p>
            <a:endParaRPr lang="en-GB"/>
          </a:p>
        </p:txBody>
      </p:sp>
      <p:sp>
        <p:nvSpPr>
          <p:cNvPr id="26" name="Text 24"/>
          <p:cNvSpPr/>
          <p:nvPr/>
        </p:nvSpPr>
        <p:spPr>
          <a:xfrm>
            <a:off x="6080760" y="2468880"/>
            <a:ext cx="1188720" cy="164592"/>
          </a:xfrm>
          <a:prstGeom prst="rect">
            <a:avLst/>
          </a:prstGeom>
          <a:noFill/>
          <a:ln/>
        </p:spPr>
        <p:txBody>
          <a:bodyPr wrap="square" rtlCol="0" anchor="ctr"/>
          <a:lstStyle/>
          <a:p>
            <a:pPr marL="0" indent="0">
              <a:buNone/>
            </a:pPr>
            <a:r>
              <a:rPr lang="en-US" sz="750" kern="0" spc="150" dirty="0">
                <a:solidFill>
                  <a:srgbClr val="8A8A9A"/>
                </a:solidFill>
              </a:rPr>
              <a:t>DB PRIVILEGE</a:t>
            </a:r>
            <a:endParaRPr lang="en-US" sz="750" dirty="0"/>
          </a:p>
        </p:txBody>
      </p:sp>
      <p:sp>
        <p:nvSpPr>
          <p:cNvPr id="27" name="Text 25"/>
          <p:cNvSpPr/>
          <p:nvPr/>
        </p:nvSpPr>
        <p:spPr>
          <a:xfrm>
            <a:off x="6080760" y="2633472"/>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SUPERUSER</a:t>
            </a:r>
            <a:endParaRPr lang="en-US" sz="900" dirty="0"/>
          </a:p>
        </p:txBody>
      </p:sp>
      <p:sp>
        <p:nvSpPr>
          <p:cNvPr id="28" name="Shape 26"/>
          <p:cNvSpPr/>
          <p:nvPr/>
        </p:nvSpPr>
        <p:spPr>
          <a:xfrm>
            <a:off x="5989320" y="2852928"/>
            <a:ext cx="2743200" cy="402336"/>
          </a:xfrm>
          <a:prstGeom prst="rect">
            <a:avLst/>
          </a:prstGeom>
          <a:solidFill>
            <a:srgbClr val="0B1628"/>
          </a:solidFill>
          <a:ln w="12700">
            <a:solidFill>
              <a:srgbClr val="2A3045"/>
            </a:solidFill>
            <a:prstDash val="solid"/>
          </a:ln>
        </p:spPr>
        <p:txBody>
          <a:bodyPr/>
          <a:lstStyle/>
          <a:p>
            <a:endParaRPr lang="en-GB"/>
          </a:p>
        </p:txBody>
      </p:sp>
      <p:sp>
        <p:nvSpPr>
          <p:cNvPr id="29" name="Text 27"/>
          <p:cNvSpPr/>
          <p:nvPr/>
        </p:nvSpPr>
        <p:spPr>
          <a:xfrm>
            <a:off x="6080760" y="2889504"/>
            <a:ext cx="1188720" cy="164592"/>
          </a:xfrm>
          <a:prstGeom prst="rect">
            <a:avLst/>
          </a:prstGeom>
          <a:noFill/>
          <a:ln/>
        </p:spPr>
        <p:txBody>
          <a:bodyPr wrap="square" rtlCol="0" anchor="ctr"/>
          <a:lstStyle/>
          <a:p>
            <a:pPr marL="0" indent="0">
              <a:buNone/>
            </a:pPr>
            <a:r>
              <a:rPr lang="en-US" sz="750" kern="0" spc="150" dirty="0">
                <a:solidFill>
                  <a:srgbClr val="8A8A9A"/>
                </a:solidFill>
              </a:rPr>
              <a:t>DATA AT RISK</a:t>
            </a:r>
            <a:endParaRPr lang="en-US" sz="750" dirty="0"/>
          </a:p>
        </p:txBody>
      </p:sp>
      <p:sp>
        <p:nvSpPr>
          <p:cNvPr id="30" name="Text 28"/>
          <p:cNvSpPr/>
          <p:nvPr/>
        </p:nvSpPr>
        <p:spPr>
          <a:xfrm>
            <a:off x="6080760" y="3054096"/>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1M customer records</a:t>
            </a:r>
            <a:endParaRPr lang="en-US" sz="900" dirty="0"/>
          </a:p>
        </p:txBody>
      </p:sp>
      <p:sp>
        <p:nvSpPr>
          <p:cNvPr id="31" name="Shape 29"/>
          <p:cNvSpPr/>
          <p:nvPr/>
        </p:nvSpPr>
        <p:spPr>
          <a:xfrm>
            <a:off x="5989320" y="3273552"/>
            <a:ext cx="2743200" cy="402336"/>
          </a:xfrm>
          <a:prstGeom prst="rect">
            <a:avLst/>
          </a:prstGeom>
          <a:solidFill>
            <a:srgbClr val="0B1628"/>
          </a:solidFill>
          <a:ln w="12700">
            <a:solidFill>
              <a:srgbClr val="2A3045"/>
            </a:solidFill>
            <a:prstDash val="solid"/>
          </a:ln>
        </p:spPr>
        <p:txBody>
          <a:bodyPr/>
          <a:lstStyle/>
          <a:p>
            <a:endParaRPr lang="en-GB"/>
          </a:p>
        </p:txBody>
      </p:sp>
      <p:sp>
        <p:nvSpPr>
          <p:cNvPr id="32" name="Text 30"/>
          <p:cNvSpPr/>
          <p:nvPr/>
        </p:nvSpPr>
        <p:spPr>
          <a:xfrm>
            <a:off x="6080760" y="3310128"/>
            <a:ext cx="1188720" cy="164592"/>
          </a:xfrm>
          <a:prstGeom prst="rect">
            <a:avLst/>
          </a:prstGeom>
          <a:noFill/>
          <a:ln/>
        </p:spPr>
        <p:txBody>
          <a:bodyPr wrap="square" rtlCol="0" anchor="ctr"/>
          <a:lstStyle/>
          <a:p>
            <a:pPr marL="0" indent="0">
              <a:buNone/>
            </a:pPr>
            <a:r>
              <a:rPr lang="en-US" sz="750" kern="0" spc="150" dirty="0">
                <a:solidFill>
                  <a:srgbClr val="8A8A9A"/>
                </a:solidFill>
              </a:rPr>
              <a:t>AUTH REQUIRED</a:t>
            </a:r>
            <a:endParaRPr lang="en-US" sz="750" dirty="0"/>
          </a:p>
        </p:txBody>
      </p:sp>
      <p:sp>
        <p:nvSpPr>
          <p:cNvPr id="33" name="Text 31"/>
          <p:cNvSpPr/>
          <p:nvPr/>
        </p:nvSpPr>
        <p:spPr>
          <a:xfrm>
            <a:off x="6080760" y="3474720"/>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None</a:t>
            </a:r>
            <a:endParaRPr lang="en-US" sz="900" dirty="0"/>
          </a:p>
        </p:txBody>
      </p:sp>
      <p:sp>
        <p:nvSpPr>
          <p:cNvPr id="34" name="Shape 32"/>
          <p:cNvSpPr/>
          <p:nvPr/>
        </p:nvSpPr>
        <p:spPr>
          <a:xfrm>
            <a:off x="5989320" y="3694176"/>
            <a:ext cx="2743200" cy="402336"/>
          </a:xfrm>
          <a:prstGeom prst="rect">
            <a:avLst/>
          </a:prstGeom>
          <a:solidFill>
            <a:srgbClr val="0B1628"/>
          </a:solidFill>
          <a:ln w="12700">
            <a:solidFill>
              <a:srgbClr val="2A3045"/>
            </a:solidFill>
            <a:prstDash val="solid"/>
          </a:ln>
        </p:spPr>
        <p:txBody>
          <a:bodyPr/>
          <a:lstStyle/>
          <a:p>
            <a:endParaRPr lang="en-GB"/>
          </a:p>
        </p:txBody>
      </p:sp>
      <p:sp>
        <p:nvSpPr>
          <p:cNvPr id="35" name="Text 33"/>
          <p:cNvSpPr/>
          <p:nvPr/>
        </p:nvSpPr>
        <p:spPr>
          <a:xfrm>
            <a:off x="6080760" y="3730752"/>
            <a:ext cx="1188720" cy="164592"/>
          </a:xfrm>
          <a:prstGeom prst="rect">
            <a:avLst/>
          </a:prstGeom>
          <a:noFill/>
          <a:ln/>
        </p:spPr>
        <p:txBody>
          <a:bodyPr wrap="square" rtlCol="0" anchor="ctr"/>
          <a:lstStyle/>
          <a:p>
            <a:pPr marL="0" indent="0">
              <a:buNone/>
            </a:pPr>
            <a:r>
              <a:rPr lang="en-US" sz="750" kern="0" spc="150" dirty="0">
                <a:solidFill>
                  <a:srgbClr val="8A8A9A"/>
                </a:solidFill>
              </a:rPr>
              <a:t>EFFORT TO FIX</a:t>
            </a:r>
            <a:endParaRPr lang="en-US" sz="750" dirty="0"/>
          </a:p>
        </p:txBody>
      </p:sp>
      <p:sp>
        <p:nvSpPr>
          <p:cNvPr id="36" name="Text 34"/>
          <p:cNvSpPr/>
          <p:nvPr/>
        </p:nvSpPr>
        <p:spPr>
          <a:xfrm>
            <a:off x="6080760" y="3895344"/>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Low — parameterise queries</a:t>
            </a:r>
            <a:endParaRPr lang="en-US" sz="900" dirty="0"/>
          </a:p>
        </p:txBody>
      </p:sp>
      <p:sp>
        <p:nvSpPr>
          <p:cNvPr id="37" name="Shape 35"/>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38" name="Text 36"/>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04  CRITICAL FINDING — F-002</a:t>
            </a:r>
            <a:endParaRPr lang="en-US" sz="800" dirty="0"/>
          </a:p>
        </p:txBody>
      </p:sp>
      <p:sp>
        <p:nvSpPr>
          <p:cNvPr id="4" name="Shape 2"/>
          <p:cNvSpPr/>
          <p:nvPr/>
        </p:nvSpPr>
        <p:spPr>
          <a:xfrm>
            <a:off x="274320" y="475488"/>
            <a:ext cx="8595360" cy="4407408"/>
          </a:xfrm>
          <a:prstGeom prst="rect">
            <a:avLst/>
          </a:prstGeom>
          <a:solidFill>
            <a:srgbClr val="112240"/>
          </a:solidFill>
          <a:ln w="12700">
            <a:solidFill>
              <a:srgbClr val="2A3045"/>
            </a:solidFill>
            <a:prstDash val="solid"/>
          </a:ln>
        </p:spPr>
        <p:txBody>
          <a:bodyPr/>
          <a:lstStyle/>
          <a:p>
            <a:endParaRPr lang="en-GB"/>
          </a:p>
        </p:txBody>
      </p:sp>
      <p:sp>
        <p:nvSpPr>
          <p:cNvPr id="5" name="Shape 3"/>
          <p:cNvSpPr/>
          <p:nvPr/>
        </p:nvSpPr>
        <p:spPr>
          <a:xfrm>
            <a:off x="274320" y="475488"/>
            <a:ext cx="8595360" cy="566928"/>
          </a:xfrm>
          <a:prstGeom prst="rect">
            <a:avLst/>
          </a:prstGeom>
          <a:solidFill>
            <a:srgbClr val="160808"/>
          </a:solidFill>
          <a:ln w="12700">
            <a:solidFill>
              <a:srgbClr val="2A3045"/>
            </a:solidFill>
            <a:prstDash val="solid"/>
          </a:ln>
        </p:spPr>
        <p:txBody>
          <a:bodyPr/>
          <a:lstStyle/>
          <a:p>
            <a:endParaRPr lang="en-GB"/>
          </a:p>
        </p:txBody>
      </p:sp>
      <p:sp>
        <p:nvSpPr>
          <p:cNvPr id="6" name="Shape 4"/>
          <p:cNvSpPr/>
          <p:nvPr/>
        </p:nvSpPr>
        <p:spPr>
          <a:xfrm>
            <a:off x="274320" y="475488"/>
            <a:ext cx="8595360" cy="50292"/>
          </a:xfrm>
          <a:prstGeom prst="rect">
            <a:avLst/>
          </a:prstGeom>
          <a:solidFill>
            <a:srgbClr val="B33A3A"/>
          </a:solidFill>
          <a:ln w="12700">
            <a:solidFill>
              <a:srgbClr val="B33A3A"/>
            </a:solidFill>
            <a:prstDash val="solid"/>
          </a:ln>
        </p:spPr>
        <p:txBody>
          <a:bodyPr/>
          <a:lstStyle/>
          <a:p>
            <a:endParaRPr lang="en-GB"/>
          </a:p>
        </p:txBody>
      </p:sp>
      <p:sp>
        <p:nvSpPr>
          <p:cNvPr id="7" name="Text 5"/>
          <p:cNvSpPr/>
          <p:nvPr/>
        </p:nvSpPr>
        <p:spPr>
          <a:xfrm>
            <a:off x="457200" y="521208"/>
            <a:ext cx="914400" cy="182880"/>
          </a:xfrm>
          <a:prstGeom prst="rect">
            <a:avLst/>
          </a:prstGeom>
          <a:noFill/>
          <a:ln/>
        </p:spPr>
        <p:txBody>
          <a:bodyPr wrap="square" rtlCol="0" anchor="ctr"/>
          <a:lstStyle/>
          <a:p>
            <a:pPr marL="0" indent="0">
              <a:buNone/>
            </a:pPr>
            <a:r>
              <a:rPr lang="en-US" sz="800" dirty="0">
                <a:solidFill>
                  <a:srgbClr val="8A8A9A"/>
                </a:solidFill>
              </a:rPr>
              <a:t>F-002</a:t>
            </a:r>
            <a:endParaRPr lang="en-US" sz="800" dirty="0"/>
          </a:p>
        </p:txBody>
      </p:sp>
      <p:sp>
        <p:nvSpPr>
          <p:cNvPr id="8" name="Text 6"/>
          <p:cNvSpPr/>
          <p:nvPr/>
        </p:nvSpPr>
        <p:spPr>
          <a:xfrm>
            <a:off x="457200" y="685800"/>
            <a:ext cx="6583680" cy="256032"/>
          </a:xfrm>
          <a:prstGeom prst="rect">
            <a:avLst/>
          </a:prstGeom>
          <a:noFill/>
          <a:ln/>
        </p:spPr>
        <p:txBody>
          <a:bodyPr wrap="square" rtlCol="0" anchor="ctr"/>
          <a:lstStyle/>
          <a:p>
            <a:pPr marL="0" indent="0">
              <a:buNone/>
            </a:pPr>
            <a:r>
              <a:rPr lang="en-US" sz="1250" b="1" dirty="0">
                <a:solidFill>
                  <a:srgbClr val="EEE8D8"/>
                </a:solidFill>
                <a:latin typeface="Consolas" pitchFamily="34" charset="0"/>
                <a:ea typeface="Consolas" pitchFamily="34" charset="-122"/>
                <a:cs typeface="Consolas" pitchFamily="34" charset="-120"/>
              </a:rPr>
              <a:t>SWIFT Operator Role Reachable via Active Directory Lateral Movement</a:t>
            </a:r>
            <a:endParaRPr lang="en-US" sz="1250" dirty="0"/>
          </a:p>
        </p:txBody>
      </p:sp>
      <p:sp>
        <p:nvSpPr>
          <p:cNvPr id="9" name="Shape 7"/>
          <p:cNvSpPr/>
          <p:nvPr/>
        </p:nvSpPr>
        <p:spPr>
          <a:xfrm>
            <a:off x="7543800" y="576072"/>
            <a:ext cx="1188720" cy="274320"/>
          </a:xfrm>
          <a:prstGeom prst="rect">
            <a:avLst/>
          </a:prstGeom>
          <a:solidFill>
            <a:srgbClr val="B33A3A"/>
          </a:solidFill>
          <a:ln w="12700">
            <a:solidFill>
              <a:srgbClr val="B33A3A"/>
            </a:solidFill>
            <a:prstDash val="solid"/>
          </a:ln>
        </p:spPr>
        <p:txBody>
          <a:bodyPr/>
          <a:lstStyle/>
          <a:p>
            <a:endParaRPr lang="en-GB"/>
          </a:p>
        </p:txBody>
      </p:sp>
      <p:sp>
        <p:nvSpPr>
          <p:cNvPr id="10" name="Text 8"/>
          <p:cNvSpPr/>
          <p:nvPr/>
        </p:nvSpPr>
        <p:spPr>
          <a:xfrm>
            <a:off x="7543800" y="576072"/>
            <a:ext cx="1188720" cy="274320"/>
          </a:xfrm>
          <a:prstGeom prst="rect">
            <a:avLst/>
          </a:prstGeom>
          <a:noFill/>
          <a:ln/>
        </p:spPr>
        <p:txBody>
          <a:bodyPr wrap="square" rtlCol="0" anchor="ctr"/>
          <a:lstStyle/>
          <a:p>
            <a:pPr marL="0" indent="0" algn="ctr">
              <a:buNone/>
            </a:pPr>
            <a:r>
              <a:rPr lang="en-US" sz="800" b="1" dirty="0">
                <a:solidFill>
                  <a:srgbClr val="FFFFFF"/>
                </a:solidFill>
              </a:rPr>
              <a:t>CRITICAL  9.7</a:t>
            </a:r>
            <a:endParaRPr lang="en-US" sz="800" dirty="0"/>
          </a:p>
        </p:txBody>
      </p:sp>
      <p:sp>
        <p:nvSpPr>
          <p:cNvPr id="11" name="Text 9"/>
          <p:cNvSpPr/>
          <p:nvPr/>
        </p:nvSpPr>
        <p:spPr>
          <a:xfrm>
            <a:off x="457200" y="1170432"/>
            <a:ext cx="5303520" cy="1874520"/>
          </a:xfrm>
          <a:prstGeom prst="rect">
            <a:avLst/>
          </a:prstGeom>
          <a:noFill/>
          <a:ln/>
        </p:spPr>
        <p:txBody>
          <a:bodyPr wrap="square" rtlCol="0" anchor="ctr"/>
          <a:lstStyle/>
          <a:p>
            <a:pPr marL="0" indent="0">
              <a:lnSpc>
                <a:spcPct val="150000"/>
              </a:lnSpc>
              <a:buNone/>
            </a:pPr>
            <a:r>
              <a:rPr lang="en-US" sz="1000" dirty="0">
                <a:solidFill>
                  <a:srgbClr val="C8C4B8"/>
                </a:solidFill>
              </a:rPr>
              <a:t>The Privileged Transaction Account service account (</a:t>
            </a:r>
            <a:r>
              <a:rPr lang="en-US" sz="1000" dirty="0" err="1">
                <a:solidFill>
                  <a:srgbClr val="C8C4B8"/>
                </a:solidFill>
              </a:rPr>
              <a:t>svc_payment_ops</a:t>
            </a:r>
            <a:r>
              <a:rPr lang="en-US" sz="1000" dirty="0">
                <a:solidFill>
                  <a:srgbClr val="C8C4B8"/>
                </a:solidFill>
              </a:rPr>
              <a:t>) is configured with Kerberos unconstrained delegation and a password that cracked offline in 11 minutes (8-char, non-complex). This account is reachable via standard AD lateral movement from any domain-joined machine.</a:t>
            </a:r>
            <a:endParaRPr lang="en-US" sz="1000" dirty="0"/>
          </a:p>
          <a:p>
            <a:pPr marL="0" indent="0">
              <a:lnSpc>
                <a:spcPct val="150000"/>
              </a:lnSpc>
              <a:buNone/>
            </a:pPr>
            <a:endParaRPr lang="en-US" sz="1000" dirty="0"/>
          </a:p>
          <a:p>
            <a:pPr marL="0" indent="0">
              <a:lnSpc>
                <a:spcPct val="150000"/>
              </a:lnSpc>
              <a:buNone/>
            </a:pPr>
            <a:r>
              <a:rPr lang="en-US" sz="1000" dirty="0">
                <a:solidFill>
                  <a:srgbClr val="C8C4B8"/>
                </a:solidFill>
              </a:rPr>
              <a:t>Assessors authenticated to the Payment Processing System interface using harvested credentials and confirmed the ability to draft, approve, and submit outgoing payment messages. A test message was prepared but not submitted. Transaction limits on this operator account are set at £50M per session with no secondary approval required below £10M.</a:t>
            </a:r>
            <a:endParaRPr lang="en-US" sz="1000" dirty="0"/>
          </a:p>
        </p:txBody>
      </p:sp>
      <p:sp>
        <p:nvSpPr>
          <p:cNvPr id="12" name="Text 10"/>
          <p:cNvSpPr/>
          <p:nvPr/>
        </p:nvSpPr>
        <p:spPr>
          <a:xfrm>
            <a:off x="457200" y="3154680"/>
            <a:ext cx="5303520" cy="201168"/>
          </a:xfrm>
          <a:prstGeom prst="rect">
            <a:avLst/>
          </a:prstGeom>
          <a:noFill/>
          <a:ln/>
        </p:spPr>
        <p:txBody>
          <a:bodyPr wrap="square" rtlCol="0" anchor="ctr"/>
          <a:lstStyle/>
          <a:p>
            <a:pPr marL="0" indent="0">
              <a:buNone/>
            </a:pPr>
            <a:r>
              <a:rPr lang="en-US" sz="750" kern="0" spc="200" dirty="0">
                <a:solidFill>
                  <a:srgbClr val="8A8A9A"/>
                </a:solidFill>
              </a:rPr>
              <a:t>REGULATORY EXPOSURE</a:t>
            </a:r>
            <a:endParaRPr lang="en-US" sz="750" dirty="0"/>
          </a:p>
        </p:txBody>
      </p:sp>
      <p:sp>
        <p:nvSpPr>
          <p:cNvPr id="13" name="Text 11"/>
          <p:cNvSpPr/>
          <p:nvPr/>
        </p:nvSpPr>
        <p:spPr>
          <a:xfrm>
            <a:off x="457200" y="3364992"/>
            <a:ext cx="5303520" cy="731520"/>
          </a:xfrm>
          <a:prstGeom prst="rect">
            <a:avLst/>
          </a:prstGeom>
          <a:noFill/>
          <a:ln/>
        </p:spPr>
        <p:txBody>
          <a:bodyPr wrap="square" rtlCol="0" anchor="ctr"/>
          <a:lstStyle/>
          <a:p>
            <a:pPr marL="0" indent="0">
              <a:lnSpc>
                <a:spcPct val="150000"/>
              </a:lnSpc>
              <a:buNone/>
            </a:pPr>
            <a:r>
              <a:rPr lang="en-US" sz="950" dirty="0">
                <a:solidFill>
                  <a:srgbClr val="C8C4B8"/>
                </a:solidFill>
              </a:rPr>
              <a:t>PRA SS2/21 — operational risk and SWIFT access controls. FCA SYSC 8.1 — outsourcing and systems resilience. Potential violation of SWIFT CSP Mandatory Control 4.1 (Restrict Internet Access) and 5.1 (Logical Access). Fraud loss exposure: up to £50M per operator session.</a:t>
            </a:r>
            <a:endParaRPr lang="en-US" sz="950" dirty="0"/>
          </a:p>
        </p:txBody>
      </p:sp>
      <p:sp>
        <p:nvSpPr>
          <p:cNvPr id="14" name="Shape 12"/>
          <p:cNvSpPr/>
          <p:nvPr/>
        </p:nvSpPr>
        <p:spPr>
          <a:xfrm>
            <a:off x="5989320" y="1170432"/>
            <a:ext cx="2743200" cy="402336"/>
          </a:xfrm>
          <a:prstGeom prst="rect">
            <a:avLst/>
          </a:prstGeom>
          <a:solidFill>
            <a:srgbClr val="0B1628"/>
          </a:solidFill>
          <a:ln w="12700">
            <a:solidFill>
              <a:srgbClr val="2A3045"/>
            </a:solidFill>
            <a:prstDash val="solid"/>
          </a:ln>
        </p:spPr>
        <p:txBody>
          <a:bodyPr/>
          <a:lstStyle/>
          <a:p>
            <a:endParaRPr lang="en-GB"/>
          </a:p>
        </p:txBody>
      </p:sp>
      <p:sp>
        <p:nvSpPr>
          <p:cNvPr id="15" name="Text 13"/>
          <p:cNvSpPr/>
          <p:nvPr/>
        </p:nvSpPr>
        <p:spPr>
          <a:xfrm>
            <a:off x="6080760" y="1207008"/>
            <a:ext cx="1371600" cy="164592"/>
          </a:xfrm>
          <a:prstGeom prst="rect">
            <a:avLst/>
          </a:prstGeom>
          <a:noFill/>
          <a:ln/>
        </p:spPr>
        <p:txBody>
          <a:bodyPr wrap="square" rtlCol="0" anchor="ctr"/>
          <a:lstStyle/>
          <a:p>
            <a:pPr marL="0" indent="0">
              <a:buNone/>
            </a:pPr>
            <a:r>
              <a:rPr lang="en-US" sz="750" kern="0" spc="150" dirty="0">
                <a:solidFill>
                  <a:srgbClr val="8A8A9A"/>
                </a:solidFill>
              </a:rPr>
              <a:t>SERVICE ACCOUNT</a:t>
            </a:r>
            <a:endParaRPr lang="en-US" sz="750" dirty="0"/>
          </a:p>
        </p:txBody>
      </p:sp>
      <p:sp>
        <p:nvSpPr>
          <p:cNvPr id="16" name="Text 14"/>
          <p:cNvSpPr/>
          <p:nvPr/>
        </p:nvSpPr>
        <p:spPr>
          <a:xfrm>
            <a:off x="6080760" y="1371600"/>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SVC_SWIFTOP</a:t>
            </a:r>
            <a:endParaRPr lang="en-US" sz="900" dirty="0"/>
          </a:p>
        </p:txBody>
      </p:sp>
      <p:sp>
        <p:nvSpPr>
          <p:cNvPr id="17" name="Shape 15"/>
          <p:cNvSpPr/>
          <p:nvPr/>
        </p:nvSpPr>
        <p:spPr>
          <a:xfrm>
            <a:off x="5989320" y="1591056"/>
            <a:ext cx="2743200" cy="402336"/>
          </a:xfrm>
          <a:prstGeom prst="rect">
            <a:avLst/>
          </a:prstGeom>
          <a:solidFill>
            <a:srgbClr val="0B1628"/>
          </a:solidFill>
          <a:ln w="12700">
            <a:solidFill>
              <a:srgbClr val="2A3045"/>
            </a:solidFill>
            <a:prstDash val="solid"/>
          </a:ln>
        </p:spPr>
        <p:txBody>
          <a:bodyPr/>
          <a:lstStyle/>
          <a:p>
            <a:endParaRPr lang="en-GB"/>
          </a:p>
        </p:txBody>
      </p:sp>
      <p:sp>
        <p:nvSpPr>
          <p:cNvPr id="18" name="Text 16"/>
          <p:cNvSpPr/>
          <p:nvPr/>
        </p:nvSpPr>
        <p:spPr>
          <a:xfrm>
            <a:off x="6080760" y="1627632"/>
            <a:ext cx="1371600" cy="164592"/>
          </a:xfrm>
          <a:prstGeom prst="rect">
            <a:avLst/>
          </a:prstGeom>
          <a:noFill/>
          <a:ln/>
        </p:spPr>
        <p:txBody>
          <a:bodyPr wrap="square" rtlCol="0" anchor="ctr"/>
          <a:lstStyle/>
          <a:p>
            <a:pPr marL="0" indent="0">
              <a:buNone/>
            </a:pPr>
            <a:r>
              <a:rPr lang="en-US" sz="750" kern="0" spc="150" dirty="0">
                <a:solidFill>
                  <a:srgbClr val="8A8A9A"/>
                </a:solidFill>
              </a:rPr>
              <a:t>DELEGATION</a:t>
            </a:r>
            <a:endParaRPr lang="en-US" sz="750" dirty="0"/>
          </a:p>
        </p:txBody>
      </p:sp>
      <p:sp>
        <p:nvSpPr>
          <p:cNvPr id="19" name="Text 17"/>
          <p:cNvSpPr/>
          <p:nvPr/>
        </p:nvSpPr>
        <p:spPr>
          <a:xfrm>
            <a:off x="6080760" y="1792224"/>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Unconstrained</a:t>
            </a:r>
            <a:endParaRPr lang="en-US" sz="900" dirty="0"/>
          </a:p>
        </p:txBody>
      </p:sp>
      <p:sp>
        <p:nvSpPr>
          <p:cNvPr id="20" name="Shape 18"/>
          <p:cNvSpPr/>
          <p:nvPr/>
        </p:nvSpPr>
        <p:spPr>
          <a:xfrm>
            <a:off x="5989320" y="2011680"/>
            <a:ext cx="2743200" cy="402336"/>
          </a:xfrm>
          <a:prstGeom prst="rect">
            <a:avLst/>
          </a:prstGeom>
          <a:solidFill>
            <a:srgbClr val="0B1628"/>
          </a:solidFill>
          <a:ln w="12700">
            <a:solidFill>
              <a:srgbClr val="2A3045"/>
            </a:solidFill>
            <a:prstDash val="solid"/>
          </a:ln>
        </p:spPr>
        <p:txBody>
          <a:bodyPr/>
          <a:lstStyle/>
          <a:p>
            <a:endParaRPr lang="en-GB"/>
          </a:p>
        </p:txBody>
      </p:sp>
      <p:sp>
        <p:nvSpPr>
          <p:cNvPr id="21" name="Text 19"/>
          <p:cNvSpPr/>
          <p:nvPr/>
        </p:nvSpPr>
        <p:spPr>
          <a:xfrm>
            <a:off x="6080760" y="2048256"/>
            <a:ext cx="1371600" cy="164592"/>
          </a:xfrm>
          <a:prstGeom prst="rect">
            <a:avLst/>
          </a:prstGeom>
          <a:noFill/>
          <a:ln/>
        </p:spPr>
        <p:txBody>
          <a:bodyPr wrap="square" rtlCol="0" anchor="ctr"/>
          <a:lstStyle/>
          <a:p>
            <a:pPr marL="0" indent="0">
              <a:buNone/>
            </a:pPr>
            <a:r>
              <a:rPr lang="en-US" sz="750" kern="0" spc="150" dirty="0">
                <a:solidFill>
                  <a:srgbClr val="8A8A9A"/>
                </a:solidFill>
              </a:rPr>
              <a:t>PASSWORD CRACKED</a:t>
            </a:r>
            <a:endParaRPr lang="en-US" sz="750" dirty="0"/>
          </a:p>
        </p:txBody>
      </p:sp>
      <p:sp>
        <p:nvSpPr>
          <p:cNvPr id="22" name="Text 20"/>
          <p:cNvSpPr/>
          <p:nvPr/>
        </p:nvSpPr>
        <p:spPr>
          <a:xfrm>
            <a:off x="6080760" y="2212848"/>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11 minutes (offline)</a:t>
            </a:r>
            <a:endParaRPr lang="en-US" sz="900" dirty="0"/>
          </a:p>
        </p:txBody>
      </p:sp>
      <p:sp>
        <p:nvSpPr>
          <p:cNvPr id="23" name="Shape 21"/>
          <p:cNvSpPr/>
          <p:nvPr/>
        </p:nvSpPr>
        <p:spPr>
          <a:xfrm>
            <a:off x="5989320" y="2432304"/>
            <a:ext cx="2743200" cy="402336"/>
          </a:xfrm>
          <a:prstGeom prst="rect">
            <a:avLst/>
          </a:prstGeom>
          <a:solidFill>
            <a:srgbClr val="0B1628"/>
          </a:solidFill>
          <a:ln w="12700">
            <a:solidFill>
              <a:srgbClr val="2A3045"/>
            </a:solidFill>
            <a:prstDash val="solid"/>
          </a:ln>
        </p:spPr>
        <p:txBody>
          <a:bodyPr/>
          <a:lstStyle/>
          <a:p>
            <a:endParaRPr lang="en-GB"/>
          </a:p>
        </p:txBody>
      </p:sp>
      <p:sp>
        <p:nvSpPr>
          <p:cNvPr id="24" name="Text 22"/>
          <p:cNvSpPr/>
          <p:nvPr/>
        </p:nvSpPr>
        <p:spPr>
          <a:xfrm>
            <a:off x="6080760" y="2468880"/>
            <a:ext cx="1371600" cy="164592"/>
          </a:xfrm>
          <a:prstGeom prst="rect">
            <a:avLst/>
          </a:prstGeom>
          <a:noFill/>
          <a:ln/>
        </p:spPr>
        <p:txBody>
          <a:bodyPr wrap="square" rtlCol="0" anchor="ctr"/>
          <a:lstStyle/>
          <a:p>
            <a:pPr marL="0" indent="0">
              <a:buNone/>
            </a:pPr>
            <a:r>
              <a:rPr lang="en-US" sz="750" kern="0" spc="150" dirty="0">
                <a:solidFill>
                  <a:srgbClr val="8A8A9A"/>
                </a:solidFill>
              </a:rPr>
              <a:t>TX LIMIT</a:t>
            </a:r>
            <a:endParaRPr lang="en-US" sz="750" dirty="0"/>
          </a:p>
        </p:txBody>
      </p:sp>
      <p:sp>
        <p:nvSpPr>
          <p:cNvPr id="25" name="Text 23"/>
          <p:cNvSpPr/>
          <p:nvPr/>
        </p:nvSpPr>
        <p:spPr>
          <a:xfrm>
            <a:off x="6080760" y="2633472"/>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£50M / session</a:t>
            </a:r>
            <a:endParaRPr lang="en-US" sz="900" dirty="0"/>
          </a:p>
        </p:txBody>
      </p:sp>
      <p:sp>
        <p:nvSpPr>
          <p:cNvPr id="26" name="Shape 24"/>
          <p:cNvSpPr/>
          <p:nvPr/>
        </p:nvSpPr>
        <p:spPr>
          <a:xfrm>
            <a:off x="5989320" y="2852928"/>
            <a:ext cx="2743200" cy="402336"/>
          </a:xfrm>
          <a:prstGeom prst="rect">
            <a:avLst/>
          </a:prstGeom>
          <a:solidFill>
            <a:srgbClr val="0B1628"/>
          </a:solidFill>
          <a:ln w="12700">
            <a:solidFill>
              <a:srgbClr val="2A3045"/>
            </a:solidFill>
            <a:prstDash val="solid"/>
          </a:ln>
        </p:spPr>
        <p:txBody>
          <a:bodyPr/>
          <a:lstStyle/>
          <a:p>
            <a:endParaRPr lang="en-GB"/>
          </a:p>
        </p:txBody>
      </p:sp>
      <p:sp>
        <p:nvSpPr>
          <p:cNvPr id="27" name="Text 25"/>
          <p:cNvSpPr/>
          <p:nvPr/>
        </p:nvSpPr>
        <p:spPr>
          <a:xfrm>
            <a:off x="6080760" y="2889504"/>
            <a:ext cx="1371600" cy="164592"/>
          </a:xfrm>
          <a:prstGeom prst="rect">
            <a:avLst/>
          </a:prstGeom>
          <a:noFill/>
          <a:ln/>
        </p:spPr>
        <p:txBody>
          <a:bodyPr wrap="square" rtlCol="0" anchor="ctr"/>
          <a:lstStyle/>
          <a:p>
            <a:pPr marL="0" indent="0">
              <a:buNone/>
            </a:pPr>
            <a:r>
              <a:rPr lang="en-US" sz="750" kern="0" spc="150" dirty="0">
                <a:solidFill>
                  <a:srgbClr val="8A8A9A"/>
                </a:solidFill>
              </a:rPr>
              <a:t>SECONDARY APPROV.</a:t>
            </a:r>
            <a:endParaRPr lang="en-US" sz="750" dirty="0"/>
          </a:p>
        </p:txBody>
      </p:sp>
      <p:sp>
        <p:nvSpPr>
          <p:cNvPr id="28" name="Text 26"/>
          <p:cNvSpPr/>
          <p:nvPr/>
        </p:nvSpPr>
        <p:spPr>
          <a:xfrm>
            <a:off x="6080760" y="3054096"/>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None below £10M</a:t>
            </a:r>
            <a:endParaRPr lang="en-US" sz="900" dirty="0"/>
          </a:p>
        </p:txBody>
      </p:sp>
      <p:sp>
        <p:nvSpPr>
          <p:cNvPr id="29" name="Shape 27"/>
          <p:cNvSpPr/>
          <p:nvPr/>
        </p:nvSpPr>
        <p:spPr>
          <a:xfrm>
            <a:off x="5989320" y="3273552"/>
            <a:ext cx="2743200" cy="402336"/>
          </a:xfrm>
          <a:prstGeom prst="rect">
            <a:avLst/>
          </a:prstGeom>
          <a:solidFill>
            <a:srgbClr val="0B1628"/>
          </a:solidFill>
          <a:ln w="12700">
            <a:solidFill>
              <a:srgbClr val="2A3045"/>
            </a:solidFill>
            <a:prstDash val="solid"/>
          </a:ln>
        </p:spPr>
        <p:txBody>
          <a:bodyPr/>
          <a:lstStyle/>
          <a:p>
            <a:endParaRPr lang="en-GB"/>
          </a:p>
        </p:txBody>
      </p:sp>
      <p:sp>
        <p:nvSpPr>
          <p:cNvPr id="30" name="Text 28"/>
          <p:cNvSpPr/>
          <p:nvPr/>
        </p:nvSpPr>
        <p:spPr>
          <a:xfrm>
            <a:off x="6080760" y="3310128"/>
            <a:ext cx="1371600" cy="164592"/>
          </a:xfrm>
          <a:prstGeom prst="rect">
            <a:avLst/>
          </a:prstGeom>
          <a:noFill/>
          <a:ln/>
        </p:spPr>
        <p:txBody>
          <a:bodyPr wrap="square" rtlCol="0" anchor="ctr"/>
          <a:lstStyle/>
          <a:p>
            <a:pPr marL="0" indent="0">
              <a:buNone/>
            </a:pPr>
            <a:r>
              <a:rPr lang="en-US" sz="750" kern="0" spc="150" dirty="0">
                <a:solidFill>
                  <a:srgbClr val="8A8A9A"/>
                </a:solidFill>
              </a:rPr>
              <a:t>SWIFT CSP</a:t>
            </a:r>
            <a:endParaRPr lang="en-US" sz="750" dirty="0"/>
          </a:p>
        </p:txBody>
      </p:sp>
      <p:sp>
        <p:nvSpPr>
          <p:cNvPr id="31" name="Text 29"/>
          <p:cNvSpPr/>
          <p:nvPr/>
        </p:nvSpPr>
        <p:spPr>
          <a:xfrm>
            <a:off x="6080760" y="3474720"/>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Controls 4.1 &amp; 5.1 fail</a:t>
            </a:r>
            <a:endParaRPr lang="en-US" sz="900" dirty="0"/>
          </a:p>
        </p:txBody>
      </p:sp>
      <p:sp>
        <p:nvSpPr>
          <p:cNvPr id="32" name="Shape 30"/>
          <p:cNvSpPr/>
          <p:nvPr/>
        </p:nvSpPr>
        <p:spPr>
          <a:xfrm>
            <a:off x="5989320" y="3694176"/>
            <a:ext cx="2743200" cy="402336"/>
          </a:xfrm>
          <a:prstGeom prst="rect">
            <a:avLst/>
          </a:prstGeom>
          <a:solidFill>
            <a:srgbClr val="0B1628"/>
          </a:solidFill>
          <a:ln w="12700">
            <a:solidFill>
              <a:srgbClr val="2A3045"/>
            </a:solidFill>
            <a:prstDash val="solid"/>
          </a:ln>
        </p:spPr>
        <p:txBody>
          <a:bodyPr/>
          <a:lstStyle/>
          <a:p>
            <a:endParaRPr lang="en-GB"/>
          </a:p>
        </p:txBody>
      </p:sp>
      <p:sp>
        <p:nvSpPr>
          <p:cNvPr id="33" name="Text 31"/>
          <p:cNvSpPr/>
          <p:nvPr/>
        </p:nvSpPr>
        <p:spPr>
          <a:xfrm>
            <a:off x="6080760" y="3730752"/>
            <a:ext cx="1371600" cy="164592"/>
          </a:xfrm>
          <a:prstGeom prst="rect">
            <a:avLst/>
          </a:prstGeom>
          <a:noFill/>
          <a:ln/>
        </p:spPr>
        <p:txBody>
          <a:bodyPr wrap="square" rtlCol="0" anchor="ctr"/>
          <a:lstStyle/>
          <a:p>
            <a:pPr marL="0" indent="0">
              <a:buNone/>
            </a:pPr>
            <a:r>
              <a:rPr lang="en-US" sz="750" kern="0" spc="150" dirty="0">
                <a:solidFill>
                  <a:srgbClr val="8A8A9A"/>
                </a:solidFill>
              </a:rPr>
              <a:t>EFFORT TO FIX</a:t>
            </a:r>
            <a:endParaRPr lang="en-US" sz="750" dirty="0"/>
          </a:p>
        </p:txBody>
      </p:sp>
      <p:sp>
        <p:nvSpPr>
          <p:cNvPr id="34" name="Text 32"/>
          <p:cNvSpPr/>
          <p:nvPr/>
        </p:nvSpPr>
        <p:spPr>
          <a:xfrm>
            <a:off x="6080760" y="3895344"/>
            <a:ext cx="2560320" cy="182880"/>
          </a:xfrm>
          <a:prstGeom prst="rect">
            <a:avLst/>
          </a:prstGeom>
          <a:noFill/>
          <a:ln/>
        </p:spPr>
        <p:txBody>
          <a:bodyPr wrap="square" rtlCol="0" anchor="ctr"/>
          <a:lstStyle/>
          <a:p>
            <a:pPr marL="0" indent="0">
              <a:buNone/>
            </a:pPr>
            <a:r>
              <a:rPr lang="en-US" sz="900" b="1" dirty="0">
                <a:solidFill>
                  <a:srgbClr val="EEE8D8"/>
                </a:solidFill>
                <a:latin typeface="Consolas" pitchFamily="34" charset="0"/>
                <a:ea typeface="Consolas" pitchFamily="34" charset="-122"/>
                <a:cs typeface="Consolas" pitchFamily="34" charset="-120"/>
              </a:rPr>
              <a:t>Medium — account hardening</a:t>
            </a:r>
            <a:endParaRPr lang="en-US" sz="900" dirty="0"/>
          </a:p>
        </p:txBody>
      </p:sp>
      <p:sp>
        <p:nvSpPr>
          <p:cNvPr id="35" name="Shape 33"/>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36" name="Text 34"/>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05  REGULATORY EXPOSURE MATRIX</a:t>
            </a:r>
            <a:endParaRPr lang="en-US" sz="800" dirty="0"/>
          </a:p>
        </p:txBody>
      </p:sp>
      <p:sp>
        <p:nvSpPr>
          <p:cNvPr id="4" name="Text 2"/>
          <p:cNvSpPr/>
          <p:nvPr/>
        </p:nvSpPr>
        <p:spPr>
          <a:xfrm>
            <a:off x="411480" y="457200"/>
            <a:ext cx="8412480" cy="402336"/>
          </a:xfrm>
          <a:prstGeom prst="rect">
            <a:avLst/>
          </a:prstGeom>
          <a:noFill/>
          <a:ln/>
        </p:spPr>
        <p:txBody>
          <a:bodyPr wrap="square" rtlCol="0" anchor="ctr"/>
          <a:lstStyle/>
          <a:p>
            <a:pPr marL="0" indent="0">
              <a:buNone/>
            </a:pPr>
            <a:r>
              <a:rPr lang="en-US" sz="1800" b="1" dirty="0">
                <a:solidFill>
                  <a:srgbClr val="EEE8D8"/>
                </a:solidFill>
                <a:latin typeface="Georgia" pitchFamily="34" charset="0"/>
                <a:ea typeface="Georgia" pitchFamily="34" charset="-122"/>
                <a:cs typeface="Georgia" pitchFamily="34" charset="-120"/>
              </a:rPr>
              <a:t>Critical findings map directly to FCA, PRA, DORA, PCI DSS 4.0, and GDPR obligations.</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987552"/>
          <a:ext cx="7680960" cy="3712464"/>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530352">
                <a:tc>
                  <a:txBody>
                    <a:bodyPr/>
                    <a:lstStyle/>
                    <a:p>
                      <a:pPr marL="0" indent="0">
                        <a:buNone/>
                      </a:pPr>
                      <a:r>
                        <a:rPr lang="en-US" sz="750" b="1" kern="0" spc="200" dirty="0">
                          <a:solidFill>
                            <a:srgbClr val="8A8A9A"/>
                          </a:solidFill>
                        </a:rPr>
                        <a:t>FRAMEWORK</a:t>
                      </a:r>
                      <a:endParaRPr lang="en-US" sz="7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750" b="1" kern="0" spc="200" dirty="0">
                          <a:solidFill>
                            <a:srgbClr val="8A8A9A"/>
                          </a:solidFill>
                        </a:rPr>
                        <a:t>OBLIGATION</a:t>
                      </a:r>
                      <a:endParaRPr lang="en-US" sz="7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750" b="1" kern="0" spc="200" dirty="0">
                          <a:solidFill>
                            <a:srgbClr val="8A8A9A"/>
                          </a:solidFill>
                        </a:rPr>
                        <a:t>FINDINGS</a:t>
                      </a:r>
                      <a:endParaRPr lang="en-US" sz="7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750" b="1" kern="0" spc="200" dirty="0">
                          <a:solidFill>
                            <a:srgbClr val="8A8A9A"/>
                          </a:solidFill>
                        </a:rPr>
                        <a:t>STATUS</a:t>
                      </a:r>
                      <a:endParaRPr lang="en-US" sz="7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extLst>
                  <a:ext uri="{0D108BD9-81ED-4DB2-BD59-A6C34878D82A}">
                    <a16:rowId xmlns:a16="http://schemas.microsoft.com/office/drawing/2014/main" val="10000"/>
                  </a:ext>
                </a:extLst>
              </a:tr>
              <a:tr h="530352">
                <a:tc>
                  <a:txBody>
                    <a:bodyPr/>
                    <a:lstStyle/>
                    <a:p>
                      <a:pPr marL="0" indent="0">
                        <a:buNone/>
                      </a:pPr>
                      <a:r>
                        <a:rPr lang="en-US" sz="950" dirty="0">
                          <a:solidFill>
                            <a:srgbClr val="C8C4B8"/>
                          </a:solidFill>
                        </a:rPr>
                        <a:t>FCA / DORA</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ICT incident reporting within 4 hours; breach notification within 72h</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F-001, F-002, F-003</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BREACH</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extLst>
                  <a:ext uri="{0D108BD9-81ED-4DB2-BD59-A6C34878D82A}">
                    <a16:rowId xmlns:a16="http://schemas.microsoft.com/office/drawing/2014/main" val="10001"/>
                  </a:ext>
                </a:extLst>
              </a:tr>
              <a:tr h="530352">
                <a:tc>
                  <a:txBody>
                    <a:bodyPr/>
                    <a:lstStyle/>
                    <a:p>
                      <a:pPr marL="0" indent="0">
                        <a:buNone/>
                      </a:pPr>
                      <a:r>
                        <a:rPr lang="en-US" sz="950" dirty="0">
                          <a:solidFill>
                            <a:srgbClr val="C8C4B8"/>
                          </a:solidFill>
                        </a:rPr>
                        <a:t>PRA SS2/21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Logical access controls; SWIFT operator segregation of duties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F-002, F-007</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BREACH</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extLst>
                  <a:ext uri="{0D108BD9-81ED-4DB2-BD59-A6C34878D82A}">
                    <a16:rowId xmlns:a16="http://schemas.microsoft.com/office/drawing/2014/main" val="10002"/>
                  </a:ext>
                </a:extLst>
              </a:tr>
              <a:tr h="530352">
                <a:tc>
                  <a:txBody>
                    <a:bodyPr/>
                    <a:lstStyle/>
                    <a:p>
                      <a:pPr marL="0" indent="0">
                        <a:buNone/>
                      </a:pPr>
                      <a:r>
                        <a:rPr lang="en-US" sz="950" dirty="0">
                          <a:solidFill>
                            <a:srgbClr val="C8C4B8"/>
                          </a:solidFill>
                        </a:rPr>
                        <a:t>GDPR Art. 32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Appropriate technical measures to protect personal data</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F-001, F-005</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BREACH</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B33A3A"/>
                    </a:solidFill>
                  </a:tcPr>
                </a:tc>
                <a:extLst>
                  <a:ext uri="{0D108BD9-81ED-4DB2-BD59-A6C34878D82A}">
                    <a16:rowId xmlns:a16="http://schemas.microsoft.com/office/drawing/2014/main" val="10003"/>
                  </a:ext>
                </a:extLst>
              </a:tr>
              <a:tr h="530352">
                <a:tc>
                  <a:txBody>
                    <a:bodyPr/>
                    <a:lstStyle/>
                    <a:p>
                      <a:pPr marL="0" indent="0">
                        <a:buNone/>
                      </a:pPr>
                      <a:r>
                        <a:rPr lang="en-US" sz="950" dirty="0">
                          <a:solidFill>
                            <a:srgbClr val="C8C4B8"/>
                          </a:solidFill>
                        </a:rPr>
                        <a:t>PCI DSS 4.0</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Req 1 network segmentation; Req 8 MFA; Req 4 TLS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F-004, F-006, F-010, F-012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FAIL</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E07B30"/>
                    </a:solidFill>
                  </a:tcPr>
                </a:tc>
                <a:extLst>
                  <a:ext uri="{0D108BD9-81ED-4DB2-BD59-A6C34878D82A}">
                    <a16:rowId xmlns:a16="http://schemas.microsoft.com/office/drawing/2014/main" val="10004"/>
                  </a:ext>
                </a:extLst>
              </a:tr>
              <a:tr h="530352">
                <a:tc>
                  <a:txBody>
                    <a:bodyPr/>
                    <a:lstStyle/>
                    <a:p>
                      <a:pPr marL="0" indent="0">
                        <a:buNone/>
                      </a:pPr>
                      <a:r>
                        <a:rPr lang="en-US" sz="950" dirty="0">
                          <a:solidFill>
                            <a:srgbClr val="C8C4B8"/>
                          </a:solidFill>
                        </a:rPr>
                        <a:t>SWIFT CSP v2024</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Mandatory controls 1.1, 4.1, 5.1 — isolation, access, logical security</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F-002, F-008</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FAIL</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E07B30"/>
                    </a:solidFill>
                  </a:tcPr>
                </a:tc>
                <a:extLst>
                  <a:ext uri="{0D108BD9-81ED-4DB2-BD59-A6C34878D82A}">
                    <a16:rowId xmlns:a16="http://schemas.microsoft.com/office/drawing/2014/main" val="10005"/>
                  </a:ext>
                </a:extLst>
              </a:tr>
              <a:tr h="530352">
                <a:tc>
                  <a:txBody>
                    <a:bodyPr/>
                    <a:lstStyle/>
                    <a:p>
                      <a:pPr marL="0" indent="0">
                        <a:buNone/>
                      </a:pPr>
                      <a:r>
                        <a:rPr lang="en-US" sz="950" dirty="0">
                          <a:solidFill>
                            <a:srgbClr val="C8C4B8"/>
                          </a:solidFill>
                        </a:rPr>
                        <a:t>ISO 27001:2022</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A.8.3 information access restriction; A.9.4 privileged access</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950" dirty="0">
                          <a:solidFill>
                            <a:srgbClr val="C8C4B8"/>
                          </a:solidFill>
                        </a:rPr>
                        <a:t>F-006, F-007, F-011</a:t>
                      </a:r>
                      <a:endParaRPr lang="en-US" sz="95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112240"/>
                    </a:solidFill>
                  </a:tcPr>
                </a:tc>
                <a:tc>
                  <a:txBody>
                    <a:bodyPr/>
                    <a:lstStyle/>
                    <a:p>
                      <a:pPr marL="0" indent="0">
                        <a:buNone/>
                      </a:pPr>
                      <a:r>
                        <a:rPr lang="en-US" sz="800" b="1" dirty="0">
                          <a:solidFill>
                            <a:srgbClr val="FFFFFF"/>
                          </a:solidFill>
                        </a:rPr>
                        <a:t>GAP</a:t>
                      </a:r>
                      <a:endParaRPr lang="en-US" sz="800" dirty="0"/>
                    </a:p>
                  </a:txBody>
                  <a:tcPr>
                    <a:lnL w="6350" cap="flat" cmpd="sng" algn="ctr">
                      <a:solidFill>
                        <a:srgbClr val="2A3045"/>
                      </a:solidFill>
                      <a:prstDash val="solid"/>
                      <a:round/>
                      <a:headEnd type="none" w="med" len="med"/>
                      <a:tailEnd type="none" w="med" len="med"/>
                    </a:lnL>
                    <a:lnR w="6350" cap="flat" cmpd="sng" algn="ctr">
                      <a:solidFill>
                        <a:srgbClr val="2A3045"/>
                      </a:solidFill>
                      <a:prstDash val="solid"/>
                      <a:round/>
                      <a:headEnd type="none" w="med" len="med"/>
                      <a:tailEnd type="none" w="med" len="med"/>
                    </a:lnR>
                    <a:lnT w="6350" cap="flat" cmpd="sng" algn="ctr">
                      <a:solidFill>
                        <a:srgbClr val="2A3045"/>
                      </a:solidFill>
                      <a:prstDash val="solid"/>
                      <a:round/>
                      <a:headEnd type="none" w="med" len="med"/>
                      <a:tailEnd type="none" w="med" len="med"/>
                    </a:lnT>
                    <a:lnB w="6350" cap="flat" cmpd="sng" algn="ctr">
                      <a:solidFill>
                        <a:srgbClr val="2A3045"/>
                      </a:solidFill>
                      <a:prstDash val="solid"/>
                      <a:round/>
                      <a:headEnd type="none" w="med" len="med"/>
                      <a:tailEnd type="none" w="med" len="med"/>
                    </a:lnB>
                    <a:solidFill>
                      <a:srgbClr val="C97B2A"/>
                    </a:solidFill>
                  </a:tcPr>
                </a:tc>
                <a:extLst>
                  <a:ext uri="{0D108BD9-81ED-4DB2-BD59-A6C34878D82A}">
                    <a16:rowId xmlns:a16="http://schemas.microsoft.com/office/drawing/2014/main" val="10006"/>
                  </a:ext>
                </a:extLst>
              </a:tr>
            </a:tbl>
          </a:graphicData>
        </a:graphic>
      </p:graphicFrame>
      <p:sp>
        <p:nvSpPr>
          <p:cNvPr id="6" name="Shape 3"/>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7" name="Text 4"/>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06  REMEDIATION PRIORITIES</a:t>
            </a:r>
            <a:endParaRPr lang="en-US" sz="800" dirty="0"/>
          </a:p>
        </p:txBody>
      </p:sp>
      <p:sp>
        <p:nvSpPr>
          <p:cNvPr id="4" name="Text 2"/>
          <p:cNvSpPr/>
          <p:nvPr/>
        </p:nvSpPr>
        <p:spPr>
          <a:xfrm>
            <a:off x="411480" y="457200"/>
            <a:ext cx="8412480" cy="402336"/>
          </a:xfrm>
          <a:prstGeom prst="rect">
            <a:avLst/>
          </a:prstGeom>
          <a:noFill/>
          <a:ln/>
        </p:spPr>
        <p:txBody>
          <a:bodyPr wrap="square" rtlCol="0" anchor="ctr"/>
          <a:lstStyle/>
          <a:p>
            <a:pPr marL="0" indent="0">
              <a:buNone/>
            </a:pPr>
            <a:r>
              <a:rPr lang="en-US" sz="2000" b="1" dirty="0">
                <a:solidFill>
                  <a:srgbClr val="EEE8D8"/>
                </a:solidFill>
                <a:latin typeface="Georgia" pitchFamily="34" charset="0"/>
                <a:ea typeface="Georgia" pitchFamily="34" charset="-122"/>
                <a:cs typeface="Georgia" pitchFamily="34" charset="-120"/>
              </a:rPr>
              <a:t>Sequenced by regulatory exposure and fraud loss risk.</a:t>
            </a:r>
            <a:endParaRPr lang="en-US" sz="2000" dirty="0"/>
          </a:p>
        </p:txBody>
      </p:sp>
      <p:sp>
        <p:nvSpPr>
          <p:cNvPr id="5" name="Shape 3"/>
          <p:cNvSpPr/>
          <p:nvPr/>
        </p:nvSpPr>
        <p:spPr>
          <a:xfrm>
            <a:off x="274320" y="960120"/>
            <a:ext cx="8595360" cy="525780"/>
          </a:xfrm>
          <a:prstGeom prst="rect">
            <a:avLst/>
          </a:prstGeom>
          <a:solidFill>
            <a:srgbClr val="112240"/>
          </a:solidFill>
          <a:ln w="12700">
            <a:solidFill>
              <a:srgbClr val="2A3045"/>
            </a:solidFill>
            <a:prstDash val="solid"/>
          </a:ln>
        </p:spPr>
        <p:txBody>
          <a:bodyPr/>
          <a:lstStyle/>
          <a:p>
            <a:endParaRPr lang="en-GB"/>
          </a:p>
        </p:txBody>
      </p:sp>
      <p:sp>
        <p:nvSpPr>
          <p:cNvPr id="6" name="Text 4"/>
          <p:cNvSpPr/>
          <p:nvPr/>
        </p:nvSpPr>
        <p:spPr>
          <a:xfrm>
            <a:off x="384048" y="10515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01</a:t>
            </a:r>
            <a:endParaRPr lang="en-US" sz="1200" dirty="0"/>
          </a:p>
        </p:txBody>
      </p:sp>
      <p:sp>
        <p:nvSpPr>
          <p:cNvPr id="7" name="Text 5"/>
          <p:cNvSpPr/>
          <p:nvPr/>
        </p:nvSpPr>
        <p:spPr>
          <a:xfrm>
            <a:off x="1051560" y="10515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Take /api/v1/accounts/balance offline or restrict to authenticated sessions immediately. Parameterise all SQL queries. FCA breach notification to be assessed by Legal within 24 hours.</a:t>
            </a:r>
            <a:endParaRPr lang="en-US" sz="950" dirty="0"/>
          </a:p>
        </p:txBody>
      </p:sp>
      <p:sp>
        <p:nvSpPr>
          <p:cNvPr id="8" name="Shape 6"/>
          <p:cNvSpPr/>
          <p:nvPr/>
        </p:nvSpPr>
        <p:spPr>
          <a:xfrm>
            <a:off x="7662672" y="1088136"/>
            <a:ext cx="1097280" cy="256032"/>
          </a:xfrm>
          <a:prstGeom prst="rect">
            <a:avLst/>
          </a:prstGeom>
          <a:solidFill>
            <a:srgbClr val="0B1628"/>
          </a:solidFill>
          <a:ln w="12700">
            <a:solidFill>
              <a:srgbClr val="B33A3A"/>
            </a:solidFill>
            <a:prstDash val="solid"/>
          </a:ln>
        </p:spPr>
        <p:txBody>
          <a:bodyPr/>
          <a:lstStyle/>
          <a:p>
            <a:endParaRPr lang="en-GB"/>
          </a:p>
        </p:txBody>
      </p:sp>
      <p:sp>
        <p:nvSpPr>
          <p:cNvPr id="9" name="Text 7"/>
          <p:cNvSpPr/>
          <p:nvPr/>
        </p:nvSpPr>
        <p:spPr>
          <a:xfrm>
            <a:off x="7662672" y="1088136"/>
            <a:ext cx="1097280" cy="256032"/>
          </a:xfrm>
          <a:prstGeom prst="rect">
            <a:avLst/>
          </a:prstGeom>
          <a:noFill/>
          <a:ln/>
        </p:spPr>
        <p:txBody>
          <a:bodyPr wrap="square" rtlCol="0" anchor="ctr"/>
          <a:lstStyle/>
          <a:p>
            <a:pPr marL="0" indent="0" algn="ctr">
              <a:buNone/>
            </a:pPr>
            <a:r>
              <a:rPr lang="en-US" sz="650" b="1" kern="0" spc="100" dirty="0">
                <a:solidFill>
                  <a:srgbClr val="B33A3A"/>
                </a:solidFill>
              </a:rPr>
              <a:t>IMMEDIATE</a:t>
            </a:r>
            <a:endParaRPr lang="en-US" sz="650" dirty="0"/>
          </a:p>
        </p:txBody>
      </p:sp>
      <p:sp>
        <p:nvSpPr>
          <p:cNvPr id="10" name="Shape 8"/>
          <p:cNvSpPr/>
          <p:nvPr/>
        </p:nvSpPr>
        <p:spPr>
          <a:xfrm>
            <a:off x="274320" y="1531620"/>
            <a:ext cx="8595360" cy="525780"/>
          </a:xfrm>
          <a:prstGeom prst="rect">
            <a:avLst/>
          </a:prstGeom>
          <a:solidFill>
            <a:srgbClr val="112240"/>
          </a:solidFill>
          <a:ln w="12700">
            <a:solidFill>
              <a:srgbClr val="2A3045"/>
            </a:solidFill>
            <a:prstDash val="solid"/>
          </a:ln>
        </p:spPr>
        <p:txBody>
          <a:bodyPr/>
          <a:lstStyle/>
          <a:p>
            <a:endParaRPr lang="en-GB"/>
          </a:p>
        </p:txBody>
      </p:sp>
      <p:sp>
        <p:nvSpPr>
          <p:cNvPr id="11" name="Text 9"/>
          <p:cNvSpPr/>
          <p:nvPr/>
        </p:nvSpPr>
        <p:spPr>
          <a:xfrm>
            <a:off x="384048" y="16230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02</a:t>
            </a:r>
            <a:endParaRPr lang="en-US" sz="1200" dirty="0"/>
          </a:p>
        </p:txBody>
      </p:sp>
      <p:sp>
        <p:nvSpPr>
          <p:cNvPr id="12" name="Text 10"/>
          <p:cNvSpPr/>
          <p:nvPr/>
        </p:nvSpPr>
        <p:spPr>
          <a:xfrm>
            <a:off x="1051560" y="16230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Suspend </a:t>
            </a:r>
            <a:r>
              <a:rPr lang="en-US" sz="950" dirty="0" err="1">
                <a:solidFill>
                  <a:srgbClr val="C8C4B8"/>
                </a:solidFill>
              </a:rPr>
              <a:t>svc_payment_ops</a:t>
            </a:r>
            <a:r>
              <a:rPr lang="en-US" sz="950" dirty="0">
                <a:solidFill>
                  <a:srgbClr val="C8C4B8"/>
                </a:solidFill>
              </a:rPr>
              <a:t>, reset all Privileged Transaction </a:t>
            </a:r>
            <a:r>
              <a:rPr lang="en-US" sz="950" dirty="0" err="1">
                <a:solidFill>
                  <a:srgbClr val="C8C4B8"/>
                </a:solidFill>
              </a:rPr>
              <a:t>Accountcredentials</a:t>
            </a:r>
            <a:r>
              <a:rPr lang="en-US" sz="950" dirty="0">
                <a:solidFill>
                  <a:srgbClr val="C8C4B8"/>
                </a:solidFill>
              </a:rPr>
              <a:t>, and enable mandatory dual-approval for all outgoing transactions pending access control remediation.</a:t>
            </a:r>
            <a:endParaRPr lang="en-US" sz="950" dirty="0"/>
          </a:p>
        </p:txBody>
      </p:sp>
      <p:sp>
        <p:nvSpPr>
          <p:cNvPr id="13" name="Shape 11"/>
          <p:cNvSpPr/>
          <p:nvPr/>
        </p:nvSpPr>
        <p:spPr>
          <a:xfrm>
            <a:off x="7662672" y="1659636"/>
            <a:ext cx="1097280" cy="256032"/>
          </a:xfrm>
          <a:prstGeom prst="rect">
            <a:avLst/>
          </a:prstGeom>
          <a:solidFill>
            <a:srgbClr val="0B1628"/>
          </a:solidFill>
          <a:ln w="12700">
            <a:solidFill>
              <a:srgbClr val="B33A3A"/>
            </a:solidFill>
            <a:prstDash val="solid"/>
          </a:ln>
        </p:spPr>
        <p:txBody>
          <a:bodyPr/>
          <a:lstStyle/>
          <a:p>
            <a:endParaRPr lang="en-GB"/>
          </a:p>
        </p:txBody>
      </p:sp>
      <p:sp>
        <p:nvSpPr>
          <p:cNvPr id="14" name="Text 12"/>
          <p:cNvSpPr/>
          <p:nvPr/>
        </p:nvSpPr>
        <p:spPr>
          <a:xfrm>
            <a:off x="7662672" y="1659636"/>
            <a:ext cx="1097280" cy="256032"/>
          </a:xfrm>
          <a:prstGeom prst="rect">
            <a:avLst/>
          </a:prstGeom>
          <a:noFill/>
          <a:ln/>
        </p:spPr>
        <p:txBody>
          <a:bodyPr wrap="square" rtlCol="0" anchor="ctr"/>
          <a:lstStyle/>
          <a:p>
            <a:pPr marL="0" indent="0" algn="ctr">
              <a:buNone/>
            </a:pPr>
            <a:r>
              <a:rPr lang="en-US" sz="650" b="1" kern="0" spc="100" dirty="0">
                <a:solidFill>
                  <a:srgbClr val="B33A3A"/>
                </a:solidFill>
              </a:rPr>
              <a:t>IMMEDIATE</a:t>
            </a:r>
            <a:endParaRPr lang="en-US" sz="650" dirty="0"/>
          </a:p>
        </p:txBody>
      </p:sp>
      <p:sp>
        <p:nvSpPr>
          <p:cNvPr id="15" name="Shape 13"/>
          <p:cNvSpPr/>
          <p:nvPr/>
        </p:nvSpPr>
        <p:spPr>
          <a:xfrm>
            <a:off x="274320" y="2103120"/>
            <a:ext cx="8595360" cy="525780"/>
          </a:xfrm>
          <a:prstGeom prst="rect">
            <a:avLst/>
          </a:prstGeom>
          <a:solidFill>
            <a:srgbClr val="112240"/>
          </a:solidFill>
          <a:ln w="12700">
            <a:solidFill>
              <a:srgbClr val="2A3045"/>
            </a:solidFill>
            <a:prstDash val="solid"/>
          </a:ln>
        </p:spPr>
        <p:txBody>
          <a:bodyPr/>
          <a:lstStyle/>
          <a:p>
            <a:endParaRPr lang="en-GB"/>
          </a:p>
        </p:txBody>
      </p:sp>
      <p:sp>
        <p:nvSpPr>
          <p:cNvPr id="16" name="Text 14"/>
          <p:cNvSpPr/>
          <p:nvPr/>
        </p:nvSpPr>
        <p:spPr>
          <a:xfrm>
            <a:off x="384048" y="21945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03</a:t>
            </a:r>
            <a:endParaRPr lang="en-US" sz="1200" dirty="0"/>
          </a:p>
        </p:txBody>
      </p:sp>
      <p:sp>
        <p:nvSpPr>
          <p:cNvPr id="17" name="Text 15"/>
          <p:cNvSpPr/>
          <p:nvPr/>
        </p:nvSpPr>
        <p:spPr>
          <a:xfrm>
            <a:off x="1051560" y="21945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Restrict the core banking admin console to named IP ranges with enforced MFA. Disable all unauthenticated routes.</a:t>
            </a:r>
            <a:endParaRPr lang="en-US" sz="950" dirty="0"/>
          </a:p>
        </p:txBody>
      </p:sp>
      <p:sp>
        <p:nvSpPr>
          <p:cNvPr id="18" name="Shape 16"/>
          <p:cNvSpPr/>
          <p:nvPr/>
        </p:nvSpPr>
        <p:spPr>
          <a:xfrm>
            <a:off x="7662672" y="2231136"/>
            <a:ext cx="1097280" cy="256032"/>
          </a:xfrm>
          <a:prstGeom prst="rect">
            <a:avLst/>
          </a:prstGeom>
          <a:solidFill>
            <a:srgbClr val="0B1628"/>
          </a:solidFill>
          <a:ln w="12700">
            <a:solidFill>
              <a:srgbClr val="B33A3A"/>
            </a:solidFill>
            <a:prstDash val="solid"/>
          </a:ln>
        </p:spPr>
        <p:txBody>
          <a:bodyPr/>
          <a:lstStyle/>
          <a:p>
            <a:endParaRPr lang="en-GB"/>
          </a:p>
        </p:txBody>
      </p:sp>
      <p:sp>
        <p:nvSpPr>
          <p:cNvPr id="19" name="Text 17"/>
          <p:cNvSpPr/>
          <p:nvPr/>
        </p:nvSpPr>
        <p:spPr>
          <a:xfrm>
            <a:off x="7662672" y="2231136"/>
            <a:ext cx="1097280" cy="256032"/>
          </a:xfrm>
          <a:prstGeom prst="rect">
            <a:avLst/>
          </a:prstGeom>
          <a:noFill/>
          <a:ln/>
        </p:spPr>
        <p:txBody>
          <a:bodyPr wrap="square" rtlCol="0" anchor="ctr"/>
          <a:lstStyle/>
          <a:p>
            <a:pPr marL="0" indent="0" algn="ctr">
              <a:buNone/>
            </a:pPr>
            <a:r>
              <a:rPr lang="en-US" sz="650" b="1" kern="0" spc="100" dirty="0">
                <a:solidFill>
                  <a:srgbClr val="B33A3A"/>
                </a:solidFill>
              </a:rPr>
              <a:t>IMMEDIATE</a:t>
            </a:r>
            <a:endParaRPr lang="en-US" sz="650" dirty="0"/>
          </a:p>
        </p:txBody>
      </p:sp>
      <p:sp>
        <p:nvSpPr>
          <p:cNvPr id="20" name="Shape 18"/>
          <p:cNvSpPr/>
          <p:nvPr/>
        </p:nvSpPr>
        <p:spPr>
          <a:xfrm>
            <a:off x="274320" y="2674620"/>
            <a:ext cx="8595360" cy="525780"/>
          </a:xfrm>
          <a:prstGeom prst="rect">
            <a:avLst/>
          </a:prstGeom>
          <a:solidFill>
            <a:srgbClr val="112240"/>
          </a:solidFill>
          <a:ln w="12700">
            <a:solidFill>
              <a:srgbClr val="2A3045"/>
            </a:solidFill>
            <a:prstDash val="solid"/>
          </a:ln>
        </p:spPr>
        <p:txBody>
          <a:bodyPr/>
          <a:lstStyle/>
          <a:p>
            <a:endParaRPr lang="en-GB"/>
          </a:p>
        </p:txBody>
      </p:sp>
      <p:sp>
        <p:nvSpPr>
          <p:cNvPr id="21" name="Text 19"/>
          <p:cNvSpPr/>
          <p:nvPr/>
        </p:nvSpPr>
        <p:spPr>
          <a:xfrm>
            <a:off x="384048" y="27660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04</a:t>
            </a:r>
            <a:endParaRPr lang="en-US" sz="1200" dirty="0"/>
          </a:p>
        </p:txBody>
      </p:sp>
      <p:sp>
        <p:nvSpPr>
          <p:cNvPr id="22" name="Text 20"/>
          <p:cNvSpPr/>
          <p:nvPr/>
        </p:nvSpPr>
        <p:spPr>
          <a:xfrm>
            <a:off x="1051560" y="27660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Enforce phishing-resistant MFA (FIDO2) across all remote access and privileged paths. Password-only access for any system touching SWIFT or core banking is unacceptable under PRA SS2/21.</a:t>
            </a:r>
            <a:endParaRPr lang="en-US" sz="950" dirty="0"/>
          </a:p>
        </p:txBody>
      </p:sp>
      <p:sp>
        <p:nvSpPr>
          <p:cNvPr id="23" name="Shape 21"/>
          <p:cNvSpPr/>
          <p:nvPr/>
        </p:nvSpPr>
        <p:spPr>
          <a:xfrm>
            <a:off x="7662672" y="2802636"/>
            <a:ext cx="1097280" cy="256032"/>
          </a:xfrm>
          <a:prstGeom prst="rect">
            <a:avLst/>
          </a:prstGeom>
          <a:solidFill>
            <a:srgbClr val="0B1628"/>
          </a:solidFill>
          <a:ln w="12700">
            <a:solidFill>
              <a:srgbClr val="C97B2A"/>
            </a:solidFill>
            <a:prstDash val="solid"/>
          </a:ln>
        </p:spPr>
        <p:txBody>
          <a:bodyPr/>
          <a:lstStyle/>
          <a:p>
            <a:endParaRPr lang="en-GB"/>
          </a:p>
        </p:txBody>
      </p:sp>
      <p:sp>
        <p:nvSpPr>
          <p:cNvPr id="24" name="Text 22"/>
          <p:cNvSpPr/>
          <p:nvPr/>
        </p:nvSpPr>
        <p:spPr>
          <a:xfrm>
            <a:off x="7662672" y="2802636"/>
            <a:ext cx="1097280" cy="256032"/>
          </a:xfrm>
          <a:prstGeom prst="rect">
            <a:avLst/>
          </a:prstGeom>
          <a:noFill/>
          <a:ln/>
        </p:spPr>
        <p:txBody>
          <a:bodyPr wrap="square" rtlCol="0" anchor="ctr"/>
          <a:lstStyle/>
          <a:p>
            <a:pPr marL="0" indent="0" algn="ctr">
              <a:buNone/>
            </a:pPr>
            <a:r>
              <a:rPr lang="en-US" sz="650" b="1" kern="0" spc="100" dirty="0">
                <a:solidFill>
                  <a:srgbClr val="C97B2A"/>
                </a:solidFill>
              </a:rPr>
              <a:t>30 DAYS</a:t>
            </a:r>
            <a:endParaRPr lang="en-US" sz="650" dirty="0"/>
          </a:p>
        </p:txBody>
      </p:sp>
      <p:sp>
        <p:nvSpPr>
          <p:cNvPr id="25" name="Shape 23"/>
          <p:cNvSpPr/>
          <p:nvPr/>
        </p:nvSpPr>
        <p:spPr>
          <a:xfrm>
            <a:off x="274320" y="3246120"/>
            <a:ext cx="8595360" cy="525780"/>
          </a:xfrm>
          <a:prstGeom prst="rect">
            <a:avLst/>
          </a:prstGeom>
          <a:solidFill>
            <a:srgbClr val="112240"/>
          </a:solidFill>
          <a:ln w="12700">
            <a:solidFill>
              <a:srgbClr val="2A3045"/>
            </a:solidFill>
            <a:prstDash val="solid"/>
          </a:ln>
        </p:spPr>
        <p:txBody>
          <a:bodyPr/>
          <a:lstStyle/>
          <a:p>
            <a:endParaRPr lang="en-GB"/>
          </a:p>
        </p:txBody>
      </p:sp>
      <p:sp>
        <p:nvSpPr>
          <p:cNvPr id="26" name="Text 24"/>
          <p:cNvSpPr/>
          <p:nvPr/>
        </p:nvSpPr>
        <p:spPr>
          <a:xfrm>
            <a:off x="384048" y="33375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05</a:t>
            </a:r>
            <a:endParaRPr lang="en-US" sz="1200" dirty="0"/>
          </a:p>
        </p:txBody>
      </p:sp>
      <p:sp>
        <p:nvSpPr>
          <p:cNvPr id="27" name="Text 25"/>
          <p:cNvSpPr/>
          <p:nvPr/>
        </p:nvSpPr>
        <p:spPr>
          <a:xfrm>
            <a:off x="1051560" y="33375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Implement firewall-enforced SWIFT zone isolation. No corporate LAN routing to SWIFT segment. Aligns to SWIFT CSP Mandatory Control 1.1.</a:t>
            </a:r>
            <a:endParaRPr lang="en-US" sz="950" dirty="0"/>
          </a:p>
        </p:txBody>
      </p:sp>
      <p:sp>
        <p:nvSpPr>
          <p:cNvPr id="28" name="Shape 26"/>
          <p:cNvSpPr/>
          <p:nvPr/>
        </p:nvSpPr>
        <p:spPr>
          <a:xfrm>
            <a:off x="7662672" y="3374136"/>
            <a:ext cx="1097280" cy="256032"/>
          </a:xfrm>
          <a:prstGeom prst="rect">
            <a:avLst/>
          </a:prstGeom>
          <a:solidFill>
            <a:srgbClr val="0B1628"/>
          </a:solidFill>
          <a:ln w="12700">
            <a:solidFill>
              <a:srgbClr val="C97B2A"/>
            </a:solidFill>
            <a:prstDash val="solid"/>
          </a:ln>
        </p:spPr>
        <p:txBody>
          <a:bodyPr/>
          <a:lstStyle/>
          <a:p>
            <a:endParaRPr lang="en-GB"/>
          </a:p>
        </p:txBody>
      </p:sp>
      <p:sp>
        <p:nvSpPr>
          <p:cNvPr id="29" name="Text 27"/>
          <p:cNvSpPr/>
          <p:nvPr/>
        </p:nvSpPr>
        <p:spPr>
          <a:xfrm>
            <a:off x="7662672" y="3374136"/>
            <a:ext cx="1097280" cy="256032"/>
          </a:xfrm>
          <a:prstGeom prst="rect">
            <a:avLst/>
          </a:prstGeom>
          <a:noFill/>
          <a:ln/>
        </p:spPr>
        <p:txBody>
          <a:bodyPr wrap="square" rtlCol="0" anchor="ctr"/>
          <a:lstStyle/>
          <a:p>
            <a:pPr marL="0" indent="0" algn="ctr">
              <a:buNone/>
            </a:pPr>
            <a:r>
              <a:rPr lang="en-US" sz="650" b="1" kern="0" spc="100" dirty="0">
                <a:solidFill>
                  <a:srgbClr val="C97B2A"/>
                </a:solidFill>
              </a:rPr>
              <a:t>30 DAYS</a:t>
            </a:r>
            <a:endParaRPr lang="en-US" sz="650" dirty="0"/>
          </a:p>
        </p:txBody>
      </p:sp>
      <p:sp>
        <p:nvSpPr>
          <p:cNvPr id="30" name="Shape 28"/>
          <p:cNvSpPr/>
          <p:nvPr/>
        </p:nvSpPr>
        <p:spPr>
          <a:xfrm>
            <a:off x="274320" y="3817620"/>
            <a:ext cx="8595360" cy="525780"/>
          </a:xfrm>
          <a:prstGeom prst="rect">
            <a:avLst/>
          </a:prstGeom>
          <a:solidFill>
            <a:srgbClr val="112240"/>
          </a:solidFill>
          <a:ln w="12700">
            <a:solidFill>
              <a:srgbClr val="2A3045"/>
            </a:solidFill>
            <a:prstDash val="solid"/>
          </a:ln>
        </p:spPr>
        <p:txBody>
          <a:bodyPr/>
          <a:lstStyle/>
          <a:p>
            <a:endParaRPr lang="en-GB"/>
          </a:p>
        </p:txBody>
      </p:sp>
      <p:sp>
        <p:nvSpPr>
          <p:cNvPr id="31" name="Text 29"/>
          <p:cNvSpPr/>
          <p:nvPr/>
        </p:nvSpPr>
        <p:spPr>
          <a:xfrm>
            <a:off x="384048" y="39090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06</a:t>
            </a:r>
            <a:endParaRPr lang="en-US" sz="1200" dirty="0"/>
          </a:p>
        </p:txBody>
      </p:sp>
      <p:sp>
        <p:nvSpPr>
          <p:cNvPr id="32" name="Text 30"/>
          <p:cNvSpPr/>
          <p:nvPr/>
        </p:nvSpPr>
        <p:spPr>
          <a:xfrm>
            <a:off x="1051560" y="39090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Remove unconstrained delegation from all AD service accounts. Audit all SPN configurations. Enforce 20+ char passphrases on all Kerberoastable accounts.</a:t>
            </a:r>
            <a:endParaRPr lang="en-US" sz="950" dirty="0"/>
          </a:p>
        </p:txBody>
      </p:sp>
      <p:sp>
        <p:nvSpPr>
          <p:cNvPr id="33" name="Shape 31"/>
          <p:cNvSpPr/>
          <p:nvPr/>
        </p:nvSpPr>
        <p:spPr>
          <a:xfrm>
            <a:off x="7662672" y="3945636"/>
            <a:ext cx="1097280" cy="256032"/>
          </a:xfrm>
          <a:prstGeom prst="rect">
            <a:avLst/>
          </a:prstGeom>
          <a:solidFill>
            <a:srgbClr val="0B1628"/>
          </a:solidFill>
          <a:ln w="12700">
            <a:solidFill>
              <a:srgbClr val="C97B2A"/>
            </a:solidFill>
            <a:prstDash val="solid"/>
          </a:ln>
        </p:spPr>
        <p:txBody>
          <a:bodyPr/>
          <a:lstStyle/>
          <a:p>
            <a:endParaRPr lang="en-GB"/>
          </a:p>
        </p:txBody>
      </p:sp>
      <p:sp>
        <p:nvSpPr>
          <p:cNvPr id="34" name="Text 32"/>
          <p:cNvSpPr/>
          <p:nvPr/>
        </p:nvSpPr>
        <p:spPr>
          <a:xfrm>
            <a:off x="7662672" y="3945636"/>
            <a:ext cx="1097280" cy="256032"/>
          </a:xfrm>
          <a:prstGeom prst="rect">
            <a:avLst/>
          </a:prstGeom>
          <a:noFill/>
          <a:ln/>
        </p:spPr>
        <p:txBody>
          <a:bodyPr wrap="square" rtlCol="0" anchor="ctr"/>
          <a:lstStyle/>
          <a:p>
            <a:pPr marL="0" indent="0" algn="ctr">
              <a:buNone/>
            </a:pPr>
            <a:r>
              <a:rPr lang="en-US" sz="650" b="1" kern="0" spc="100" dirty="0">
                <a:solidFill>
                  <a:srgbClr val="C97B2A"/>
                </a:solidFill>
              </a:rPr>
              <a:t>30 DAYS</a:t>
            </a:r>
            <a:endParaRPr lang="en-US" sz="650" dirty="0"/>
          </a:p>
        </p:txBody>
      </p:sp>
      <p:sp>
        <p:nvSpPr>
          <p:cNvPr id="35" name="Shape 33"/>
          <p:cNvSpPr/>
          <p:nvPr/>
        </p:nvSpPr>
        <p:spPr>
          <a:xfrm>
            <a:off x="274320" y="4389120"/>
            <a:ext cx="8595360" cy="525780"/>
          </a:xfrm>
          <a:prstGeom prst="rect">
            <a:avLst/>
          </a:prstGeom>
          <a:solidFill>
            <a:srgbClr val="112240"/>
          </a:solidFill>
          <a:ln w="12700">
            <a:solidFill>
              <a:srgbClr val="2A3045"/>
            </a:solidFill>
            <a:prstDash val="solid"/>
          </a:ln>
        </p:spPr>
        <p:txBody>
          <a:bodyPr/>
          <a:lstStyle/>
          <a:p>
            <a:endParaRPr lang="en-GB"/>
          </a:p>
        </p:txBody>
      </p:sp>
      <p:sp>
        <p:nvSpPr>
          <p:cNvPr id="36" name="Text 34"/>
          <p:cNvSpPr/>
          <p:nvPr/>
        </p:nvSpPr>
        <p:spPr>
          <a:xfrm>
            <a:off x="384048" y="4480560"/>
            <a:ext cx="640080" cy="320040"/>
          </a:xfrm>
          <a:prstGeom prst="rect">
            <a:avLst/>
          </a:prstGeom>
          <a:noFill/>
          <a:ln/>
        </p:spPr>
        <p:txBody>
          <a:bodyPr wrap="square" rtlCol="0" anchor="ctr"/>
          <a:lstStyle/>
          <a:p>
            <a:pPr marL="0" indent="0">
              <a:buNone/>
            </a:pPr>
            <a:r>
              <a:rPr lang="en-US" sz="1200" b="1" dirty="0">
                <a:solidFill>
                  <a:srgbClr val="C9952A"/>
                </a:solidFill>
                <a:latin typeface="Consolas" pitchFamily="34" charset="0"/>
                <a:ea typeface="Consolas" pitchFamily="34" charset="-122"/>
                <a:cs typeface="Consolas" pitchFamily="34" charset="-120"/>
              </a:rPr>
              <a:t>07</a:t>
            </a:r>
            <a:endParaRPr lang="en-US" sz="1200" dirty="0"/>
          </a:p>
        </p:txBody>
      </p:sp>
      <p:sp>
        <p:nvSpPr>
          <p:cNvPr id="37" name="Text 35"/>
          <p:cNvSpPr/>
          <p:nvPr/>
        </p:nvSpPr>
        <p:spPr>
          <a:xfrm>
            <a:off x="1051560" y="4480560"/>
            <a:ext cx="6492240" cy="365760"/>
          </a:xfrm>
          <a:prstGeom prst="rect">
            <a:avLst/>
          </a:prstGeom>
          <a:noFill/>
          <a:ln/>
        </p:spPr>
        <p:txBody>
          <a:bodyPr wrap="square" rtlCol="0" anchor="ctr"/>
          <a:lstStyle/>
          <a:p>
            <a:pPr marL="0" indent="0">
              <a:lnSpc>
                <a:spcPct val="130000"/>
              </a:lnSpc>
              <a:buNone/>
            </a:pPr>
            <a:r>
              <a:rPr lang="en-US" sz="950" dirty="0">
                <a:solidFill>
                  <a:srgbClr val="C8C4B8"/>
                </a:solidFill>
              </a:rPr>
              <a:t>Revoke public access to the exposed S3 AML archive. Enable S3 Block Public Access at the AWS Organisation level. Assess GDPR Art. 33 breach notification obligation.</a:t>
            </a:r>
            <a:endParaRPr lang="en-US" sz="950" dirty="0"/>
          </a:p>
        </p:txBody>
      </p:sp>
      <p:sp>
        <p:nvSpPr>
          <p:cNvPr id="38" name="Shape 36"/>
          <p:cNvSpPr/>
          <p:nvPr/>
        </p:nvSpPr>
        <p:spPr>
          <a:xfrm>
            <a:off x="7662672" y="4517136"/>
            <a:ext cx="1097280" cy="256032"/>
          </a:xfrm>
          <a:prstGeom prst="rect">
            <a:avLst/>
          </a:prstGeom>
          <a:solidFill>
            <a:srgbClr val="0B1628"/>
          </a:solidFill>
          <a:ln w="12700">
            <a:solidFill>
              <a:srgbClr val="B33A3A"/>
            </a:solidFill>
            <a:prstDash val="solid"/>
          </a:ln>
        </p:spPr>
        <p:txBody>
          <a:bodyPr/>
          <a:lstStyle/>
          <a:p>
            <a:endParaRPr lang="en-GB"/>
          </a:p>
        </p:txBody>
      </p:sp>
      <p:sp>
        <p:nvSpPr>
          <p:cNvPr id="39" name="Text 37"/>
          <p:cNvSpPr/>
          <p:nvPr/>
        </p:nvSpPr>
        <p:spPr>
          <a:xfrm>
            <a:off x="7662672" y="4517136"/>
            <a:ext cx="1097280" cy="256032"/>
          </a:xfrm>
          <a:prstGeom prst="rect">
            <a:avLst/>
          </a:prstGeom>
          <a:noFill/>
          <a:ln/>
        </p:spPr>
        <p:txBody>
          <a:bodyPr wrap="square" rtlCol="0" anchor="ctr"/>
          <a:lstStyle/>
          <a:p>
            <a:pPr marL="0" indent="0" algn="ctr">
              <a:buNone/>
            </a:pPr>
            <a:r>
              <a:rPr lang="en-US" sz="650" b="1" kern="0" spc="100" dirty="0">
                <a:solidFill>
                  <a:srgbClr val="B33A3A"/>
                </a:solidFill>
              </a:rPr>
              <a:t>48 HOURS</a:t>
            </a:r>
            <a:endParaRPr lang="en-US" sz="650" dirty="0"/>
          </a:p>
        </p:txBody>
      </p:sp>
      <p:sp>
        <p:nvSpPr>
          <p:cNvPr id="40" name="Shape 38"/>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41" name="Text 39"/>
          <p:cNvSpPr/>
          <p:nvPr/>
        </p:nvSpPr>
        <p:spPr>
          <a:xfrm>
            <a:off x="365760" y="4919472"/>
            <a:ext cx="8412480" cy="164592"/>
          </a:xfrm>
          <a:prstGeom prst="rect">
            <a:avLst/>
          </a:prstGeom>
          <a:noFill/>
          <a:ln/>
        </p:spPr>
        <p:txBody>
          <a:bodyPr wrap="square" rtlCol="0" anchor="ctr"/>
          <a:lstStyle/>
          <a:p>
            <a:pPr marL="0" indent="0" algn="r">
              <a:buNone/>
            </a:pPr>
            <a:r>
              <a:rPr lang="en-US" sz="700" dirty="0">
                <a:solidFill>
                  <a:srgbClr val="2A3045"/>
                </a:solidFill>
              </a:rPr>
              <a:t>ASR-2026-0041  ·  RESTRICTED</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952A"/>
          </a:solidFill>
          <a:ln w="12700">
            <a:solidFill>
              <a:srgbClr val="C9952A"/>
            </a:solidFill>
            <a:prstDash val="solid"/>
          </a:ln>
        </p:spPr>
        <p:txBody>
          <a:bodyPr/>
          <a:lstStyle/>
          <a:p>
            <a:endParaRPr lang="en-GB"/>
          </a:p>
        </p:txBody>
      </p:sp>
      <p:sp>
        <p:nvSpPr>
          <p:cNvPr id="3" name="Text 1"/>
          <p:cNvSpPr/>
          <p:nvPr/>
        </p:nvSpPr>
        <p:spPr>
          <a:xfrm>
            <a:off x="411480" y="182880"/>
            <a:ext cx="8229600" cy="201168"/>
          </a:xfrm>
          <a:prstGeom prst="rect">
            <a:avLst/>
          </a:prstGeom>
          <a:noFill/>
          <a:ln/>
        </p:spPr>
        <p:txBody>
          <a:bodyPr wrap="square" rtlCol="0" anchor="ctr"/>
          <a:lstStyle/>
          <a:p>
            <a:pPr marL="0" indent="0">
              <a:buNone/>
            </a:pPr>
            <a:r>
              <a:rPr lang="en-US" sz="800" kern="0" spc="300" dirty="0">
                <a:solidFill>
                  <a:srgbClr val="C9952A"/>
                </a:solidFill>
              </a:rPr>
              <a:t>07  SCOPE, METHODOLOGY &amp; CLOSE</a:t>
            </a:r>
            <a:endParaRPr lang="en-US" sz="800" dirty="0"/>
          </a:p>
        </p:txBody>
      </p:sp>
      <p:sp>
        <p:nvSpPr>
          <p:cNvPr id="4" name="Text 2"/>
          <p:cNvSpPr/>
          <p:nvPr/>
        </p:nvSpPr>
        <p:spPr>
          <a:xfrm>
            <a:off x="411480" y="502920"/>
            <a:ext cx="3840480" cy="201168"/>
          </a:xfrm>
          <a:prstGeom prst="rect">
            <a:avLst/>
          </a:prstGeom>
          <a:noFill/>
          <a:ln/>
        </p:spPr>
        <p:txBody>
          <a:bodyPr wrap="square" rtlCol="0" anchor="ctr"/>
          <a:lstStyle/>
          <a:p>
            <a:pPr marL="0" indent="0">
              <a:buNone/>
            </a:pPr>
            <a:r>
              <a:rPr lang="en-US" sz="750" kern="0" spc="200" dirty="0">
                <a:solidFill>
                  <a:srgbClr val="8A8A9A"/>
                </a:solidFill>
              </a:rPr>
              <a:t>SCOPE</a:t>
            </a:r>
            <a:endParaRPr lang="en-US" sz="750" dirty="0"/>
          </a:p>
        </p:txBody>
      </p:sp>
      <p:sp>
        <p:nvSpPr>
          <p:cNvPr id="5" name="Text 3"/>
          <p:cNvSpPr/>
          <p:nvPr/>
        </p:nvSpPr>
        <p:spPr>
          <a:xfrm>
            <a:off x="411480" y="731520"/>
            <a:ext cx="3840480" cy="914400"/>
          </a:xfrm>
          <a:prstGeom prst="rect">
            <a:avLst/>
          </a:prstGeom>
          <a:noFill/>
          <a:ln/>
        </p:spPr>
        <p:txBody>
          <a:bodyPr wrap="square" rtlCol="0" anchor="ctr"/>
          <a:lstStyle/>
          <a:p>
            <a:pPr marL="0" indent="0">
              <a:lnSpc>
                <a:spcPct val="150000"/>
              </a:lnSpc>
              <a:buNone/>
            </a:pPr>
            <a:r>
              <a:rPr lang="en-US" sz="950" dirty="0">
                <a:solidFill>
                  <a:srgbClr val="C8C4B8"/>
                </a:solidFill>
              </a:rPr>
              <a:t>External: all internet-facing assets under example-bank.com (217 hosts). Internal: 10.0.0.0/16 corporate range. SWIFT Alliance Access production and staging. AWS Account (Redacted) (core banking backups).</a:t>
            </a:r>
            <a:endParaRPr lang="en-US" sz="950" dirty="0"/>
          </a:p>
        </p:txBody>
      </p:sp>
      <p:sp>
        <p:nvSpPr>
          <p:cNvPr id="6" name="Text 4"/>
          <p:cNvSpPr/>
          <p:nvPr/>
        </p:nvSpPr>
        <p:spPr>
          <a:xfrm>
            <a:off x="411480" y="1792224"/>
            <a:ext cx="3840480" cy="201168"/>
          </a:xfrm>
          <a:prstGeom prst="rect">
            <a:avLst/>
          </a:prstGeom>
          <a:noFill/>
          <a:ln/>
        </p:spPr>
        <p:txBody>
          <a:bodyPr wrap="square" rtlCol="0" anchor="ctr"/>
          <a:lstStyle/>
          <a:p>
            <a:pPr marL="0" indent="0">
              <a:buNone/>
            </a:pPr>
            <a:r>
              <a:rPr lang="en-US" sz="750" kern="0" spc="200" dirty="0">
                <a:solidFill>
                  <a:srgbClr val="8A8A9A"/>
                </a:solidFill>
              </a:rPr>
              <a:t>OUT OF SCOPE</a:t>
            </a:r>
            <a:endParaRPr lang="en-US" sz="750" dirty="0"/>
          </a:p>
        </p:txBody>
      </p:sp>
      <p:sp>
        <p:nvSpPr>
          <p:cNvPr id="7" name="Text 5"/>
          <p:cNvSpPr/>
          <p:nvPr/>
        </p:nvSpPr>
        <p:spPr>
          <a:xfrm>
            <a:off x="411480" y="2020824"/>
            <a:ext cx="3840480" cy="640080"/>
          </a:xfrm>
          <a:prstGeom prst="rect">
            <a:avLst/>
          </a:prstGeom>
          <a:noFill/>
          <a:ln/>
        </p:spPr>
        <p:txBody>
          <a:bodyPr wrap="square" rtlCol="0" anchor="ctr"/>
          <a:lstStyle/>
          <a:p>
            <a:pPr marL="0" indent="0">
              <a:lnSpc>
                <a:spcPct val="150000"/>
              </a:lnSpc>
              <a:buNone/>
            </a:pPr>
            <a:r>
              <a:rPr lang="en-US" sz="950" dirty="0">
                <a:solidFill>
                  <a:srgbClr val="C8C4B8"/>
                </a:solidFill>
              </a:rPr>
              <a:t>Physical security testing, social engineering, third-party payment processors, ATM hardware beyond network reachability.</a:t>
            </a:r>
            <a:endParaRPr lang="en-US" sz="950" dirty="0"/>
          </a:p>
        </p:txBody>
      </p:sp>
      <p:sp>
        <p:nvSpPr>
          <p:cNvPr id="8" name="Text 6"/>
          <p:cNvSpPr/>
          <p:nvPr/>
        </p:nvSpPr>
        <p:spPr>
          <a:xfrm>
            <a:off x="411480" y="2788920"/>
            <a:ext cx="3840480" cy="201168"/>
          </a:xfrm>
          <a:prstGeom prst="rect">
            <a:avLst/>
          </a:prstGeom>
          <a:noFill/>
          <a:ln/>
        </p:spPr>
        <p:txBody>
          <a:bodyPr wrap="square" rtlCol="0" anchor="ctr"/>
          <a:lstStyle/>
          <a:p>
            <a:pPr marL="0" indent="0">
              <a:buNone/>
            </a:pPr>
            <a:r>
              <a:rPr lang="en-US" sz="750" kern="0" spc="200" dirty="0">
                <a:solidFill>
                  <a:srgbClr val="8A8A9A"/>
                </a:solidFill>
              </a:rPr>
              <a:t>METHODOLOGY</a:t>
            </a:r>
            <a:endParaRPr lang="en-US" sz="750" dirty="0"/>
          </a:p>
        </p:txBody>
      </p:sp>
      <p:sp>
        <p:nvSpPr>
          <p:cNvPr id="9" name="Text 7"/>
          <p:cNvSpPr/>
          <p:nvPr/>
        </p:nvSpPr>
        <p:spPr>
          <a:xfrm>
            <a:off x="411480" y="3017520"/>
            <a:ext cx="3840480" cy="822960"/>
          </a:xfrm>
          <a:prstGeom prst="rect">
            <a:avLst/>
          </a:prstGeom>
          <a:noFill/>
          <a:ln/>
        </p:spPr>
        <p:txBody>
          <a:bodyPr wrap="square" rtlCol="0" anchor="ctr"/>
          <a:lstStyle/>
          <a:p>
            <a:pPr marL="0" indent="0">
              <a:lnSpc>
                <a:spcPct val="150000"/>
              </a:lnSpc>
              <a:buNone/>
            </a:pPr>
            <a:r>
              <a:rPr lang="en-US" sz="950" dirty="0">
                <a:solidFill>
                  <a:srgbClr val="C8C4B8"/>
                </a:solidFill>
              </a:rPr>
              <a:t>PTES + OWASP WSTG 4.2 + MITRE ATT&amp;CK for Enterprise. SWIFT CSP v2024 manual control review. PCI DSS 4.0 scoping aligned to QSA guidance. External phase black-box; internal grey-box (standard domain user).</a:t>
            </a:r>
            <a:endParaRPr lang="en-US" sz="950" dirty="0"/>
          </a:p>
        </p:txBody>
      </p:sp>
      <p:sp>
        <p:nvSpPr>
          <p:cNvPr id="10" name="Shape 8"/>
          <p:cNvSpPr/>
          <p:nvPr/>
        </p:nvSpPr>
        <p:spPr>
          <a:xfrm>
            <a:off x="4572000" y="457200"/>
            <a:ext cx="13716" cy="3474720"/>
          </a:xfrm>
          <a:prstGeom prst="rect">
            <a:avLst/>
          </a:prstGeom>
          <a:solidFill>
            <a:srgbClr val="2A3045"/>
          </a:solidFill>
          <a:ln w="12700">
            <a:solidFill>
              <a:srgbClr val="2A3045"/>
            </a:solidFill>
            <a:prstDash val="solid"/>
          </a:ln>
        </p:spPr>
        <p:txBody>
          <a:bodyPr/>
          <a:lstStyle/>
          <a:p>
            <a:endParaRPr lang="en-GB"/>
          </a:p>
        </p:txBody>
      </p:sp>
      <p:sp>
        <p:nvSpPr>
          <p:cNvPr id="11" name="Text 9"/>
          <p:cNvSpPr/>
          <p:nvPr/>
        </p:nvSpPr>
        <p:spPr>
          <a:xfrm>
            <a:off x="4754880" y="502920"/>
            <a:ext cx="4023360" cy="201168"/>
          </a:xfrm>
          <a:prstGeom prst="rect">
            <a:avLst/>
          </a:prstGeom>
          <a:noFill/>
          <a:ln/>
        </p:spPr>
        <p:txBody>
          <a:bodyPr wrap="square" rtlCol="0" anchor="ctr"/>
          <a:lstStyle/>
          <a:p>
            <a:pPr marL="0" indent="0">
              <a:buNone/>
            </a:pPr>
            <a:r>
              <a:rPr lang="en-US" sz="750" kern="0" spc="200" dirty="0">
                <a:solidFill>
                  <a:srgbClr val="8A8A9A"/>
                </a:solidFill>
              </a:rPr>
              <a:t>TESTING TEAM</a:t>
            </a:r>
            <a:endParaRPr lang="en-US" sz="750" dirty="0"/>
          </a:p>
        </p:txBody>
      </p:sp>
      <p:sp>
        <p:nvSpPr>
          <p:cNvPr id="12" name="Text 10"/>
          <p:cNvSpPr/>
          <p:nvPr/>
        </p:nvSpPr>
        <p:spPr>
          <a:xfrm>
            <a:off x="4754880" y="731520"/>
            <a:ext cx="4023360" cy="1005840"/>
          </a:xfrm>
          <a:prstGeom prst="rect">
            <a:avLst/>
          </a:prstGeom>
          <a:noFill/>
          <a:ln/>
        </p:spPr>
        <p:txBody>
          <a:bodyPr wrap="square" rtlCol="0" anchor="ctr"/>
          <a:lstStyle/>
          <a:p>
            <a:pPr marL="0" indent="0">
              <a:lnSpc>
                <a:spcPct val="160000"/>
              </a:lnSpc>
              <a:buNone/>
            </a:pPr>
            <a:r>
              <a:rPr lang="en-US" sz="950" dirty="0">
                <a:solidFill>
                  <a:srgbClr val="C8C4B8"/>
                </a:solidFill>
              </a:rPr>
              <a:t>Lead: Lead Tester — Redacted</a:t>
            </a:r>
            <a:endParaRPr lang="en-US" sz="950" dirty="0"/>
          </a:p>
          <a:p>
            <a:pPr marL="0" indent="0">
              <a:lnSpc>
                <a:spcPct val="160000"/>
              </a:lnSpc>
              <a:buNone/>
            </a:pPr>
            <a:r>
              <a:rPr lang="en-US" sz="950" dirty="0">
                <a:solidFill>
                  <a:srgbClr val="C8C4B8"/>
                </a:solidFill>
              </a:rPr>
              <a:t>Financial Services: R. Mistry (SWIFT/FCA)</a:t>
            </a:r>
            <a:endParaRPr lang="en-US" sz="950" dirty="0"/>
          </a:p>
          <a:p>
            <a:pPr marL="0" indent="0">
              <a:lnSpc>
                <a:spcPct val="160000"/>
              </a:lnSpc>
              <a:buNone/>
            </a:pPr>
            <a:r>
              <a:rPr lang="en-US" sz="950" dirty="0">
                <a:solidFill>
                  <a:srgbClr val="C8C4B8"/>
                </a:solidFill>
              </a:rPr>
              <a:t>Cloud &amp; AD: Confidential</a:t>
            </a:r>
            <a:endParaRPr lang="en-US" sz="950" dirty="0"/>
          </a:p>
          <a:p>
            <a:pPr marL="0" indent="0">
              <a:lnSpc>
                <a:spcPct val="160000"/>
              </a:lnSpc>
              <a:buNone/>
            </a:pPr>
            <a:r>
              <a:rPr lang="en-US" sz="950" dirty="0">
                <a:solidFill>
                  <a:srgbClr val="C8C4B8"/>
                </a:solidFill>
              </a:rPr>
              <a:t>Application: Confidential</a:t>
            </a:r>
            <a:endParaRPr lang="en-US" sz="950" dirty="0"/>
          </a:p>
          <a:p>
            <a:pPr marL="0" indent="0">
              <a:lnSpc>
                <a:spcPct val="160000"/>
              </a:lnSpc>
              <a:buNone/>
            </a:pPr>
            <a:r>
              <a:rPr lang="en-US" sz="950" dirty="0">
                <a:solidFill>
                  <a:srgbClr val="C8C4B8"/>
                </a:solidFill>
              </a:rPr>
              <a:t> CREST CHECK accredited.</a:t>
            </a:r>
            <a:endParaRPr lang="en-US" sz="950" dirty="0"/>
          </a:p>
        </p:txBody>
      </p:sp>
      <p:sp>
        <p:nvSpPr>
          <p:cNvPr id="13" name="Text 11"/>
          <p:cNvSpPr/>
          <p:nvPr/>
        </p:nvSpPr>
        <p:spPr>
          <a:xfrm>
            <a:off x="4754880" y="1883664"/>
            <a:ext cx="4023360" cy="201168"/>
          </a:xfrm>
          <a:prstGeom prst="rect">
            <a:avLst/>
          </a:prstGeom>
          <a:noFill/>
          <a:ln/>
        </p:spPr>
        <p:txBody>
          <a:bodyPr wrap="square" rtlCol="0" anchor="ctr"/>
          <a:lstStyle/>
          <a:p>
            <a:pPr marL="0" indent="0">
              <a:buNone/>
            </a:pPr>
            <a:r>
              <a:rPr lang="en-US" sz="750" kern="0" spc="200" dirty="0">
                <a:solidFill>
                  <a:srgbClr val="8A8A9A"/>
                </a:solidFill>
              </a:rPr>
              <a:t>NEXT STEPS</a:t>
            </a:r>
            <a:endParaRPr lang="en-US" sz="750" dirty="0"/>
          </a:p>
        </p:txBody>
      </p:sp>
      <p:sp>
        <p:nvSpPr>
          <p:cNvPr id="14" name="Text 12"/>
          <p:cNvSpPr/>
          <p:nvPr/>
        </p:nvSpPr>
        <p:spPr>
          <a:xfrm>
            <a:off x="4754880" y="2103120"/>
            <a:ext cx="4023360" cy="1280160"/>
          </a:xfrm>
          <a:prstGeom prst="rect">
            <a:avLst/>
          </a:prstGeom>
          <a:noFill/>
          <a:ln/>
        </p:spPr>
        <p:txBody>
          <a:bodyPr wrap="square" rtlCol="0" anchor="ctr"/>
          <a:lstStyle/>
          <a:p>
            <a:pPr marL="342900" indent="-342900">
              <a:lnSpc>
                <a:spcPct val="155000"/>
              </a:lnSpc>
              <a:buSzPct val="100000"/>
              <a:buChar char="•"/>
            </a:pPr>
            <a:r>
              <a:rPr lang="en-US" sz="950" dirty="0">
                <a:solidFill>
                  <a:srgbClr val="C8C4B8"/>
                </a:solidFill>
              </a:rPr>
              <a:t>Immediate items — Board notification within 24 hours</a:t>
            </a:r>
            <a:endParaRPr lang="en-US" sz="950" dirty="0"/>
          </a:p>
          <a:p>
            <a:pPr marL="342900" indent="-342900">
              <a:lnSpc>
                <a:spcPct val="155000"/>
              </a:lnSpc>
              <a:buSzPct val="100000"/>
              <a:buChar char="•"/>
            </a:pPr>
            <a:r>
              <a:rPr lang="en-US" sz="950" dirty="0">
                <a:solidFill>
                  <a:srgbClr val="C8C4B8"/>
                </a:solidFill>
              </a:rPr>
              <a:t>FCA/ICO breach notification assessed within 72 hours</a:t>
            </a:r>
            <a:endParaRPr lang="en-US" sz="950" dirty="0"/>
          </a:p>
          <a:p>
            <a:pPr marL="342900" indent="-342900">
              <a:lnSpc>
                <a:spcPct val="155000"/>
              </a:lnSpc>
              <a:buSzPct val="100000"/>
              <a:buChar char="•"/>
            </a:pPr>
            <a:r>
              <a:rPr lang="en-US" sz="950" dirty="0">
                <a:solidFill>
                  <a:srgbClr val="C8C4B8"/>
                </a:solidFill>
              </a:rPr>
              <a:t>Critical finding retest within 10 business days</a:t>
            </a:r>
            <a:endParaRPr lang="en-US" sz="950" dirty="0"/>
          </a:p>
          <a:p>
            <a:pPr marL="342900" indent="-342900">
              <a:lnSpc>
                <a:spcPct val="155000"/>
              </a:lnSpc>
              <a:buSzPct val="100000"/>
              <a:buChar char="•"/>
            </a:pPr>
            <a:r>
              <a:rPr lang="en-US" sz="950" dirty="0">
                <a:solidFill>
                  <a:srgbClr val="C8C4B8"/>
                </a:solidFill>
              </a:rPr>
              <a:t>Full remediation retest within 60 days</a:t>
            </a:r>
            <a:endParaRPr lang="en-US" sz="950" dirty="0"/>
          </a:p>
          <a:p>
            <a:pPr marL="342900" indent="-342900">
              <a:lnSpc>
                <a:spcPct val="155000"/>
              </a:lnSpc>
              <a:buSzPct val="100000"/>
              <a:buChar char="•"/>
            </a:pPr>
            <a:r>
              <a:rPr lang="en-US" sz="950" dirty="0">
                <a:solidFill>
                  <a:srgbClr val="C8C4B8"/>
                </a:solidFill>
              </a:rPr>
              <a:t>SWIFT CSP attestation re-submission post-remediation</a:t>
            </a:r>
            <a:endParaRPr lang="en-US" sz="950" dirty="0"/>
          </a:p>
        </p:txBody>
      </p:sp>
      <p:sp>
        <p:nvSpPr>
          <p:cNvPr id="15" name="Shape 13"/>
          <p:cNvSpPr/>
          <p:nvPr/>
        </p:nvSpPr>
        <p:spPr>
          <a:xfrm>
            <a:off x="274320" y="4096512"/>
            <a:ext cx="8595360" cy="713232"/>
          </a:xfrm>
          <a:prstGeom prst="rect">
            <a:avLst/>
          </a:prstGeom>
          <a:solidFill>
            <a:srgbClr val="112240"/>
          </a:solidFill>
          <a:ln w="12700">
            <a:solidFill>
              <a:srgbClr val="2A3045"/>
            </a:solidFill>
            <a:prstDash val="solid"/>
          </a:ln>
        </p:spPr>
        <p:txBody>
          <a:bodyPr/>
          <a:lstStyle/>
          <a:p>
            <a:endParaRPr lang="en-GB"/>
          </a:p>
        </p:txBody>
      </p:sp>
      <p:sp>
        <p:nvSpPr>
          <p:cNvPr id="16" name="Shape 14"/>
          <p:cNvSpPr/>
          <p:nvPr/>
        </p:nvSpPr>
        <p:spPr>
          <a:xfrm>
            <a:off x="548640" y="4370832"/>
            <a:ext cx="3200400" cy="13716"/>
          </a:xfrm>
          <a:prstGeom prst="rect">
            <a:avLst/>
          </a:prstGeom>
          <a:solidFill>
            <a:srgbClr val="4A6080"/>
          </a:solidFill>
          <a:ln w="12700">
            <a:solidFill>
              <a:srgbClr val="4A6080"/>
            </a:solidFill>
            <a:prstDash val="solid"/>
          </a:ln>
        </p:spPr>
        <p:txBody>
          <a:bodyPr/>
          <a:lstStyle/>
          <a:p>
            <a:endParaRPr lang="en-GB"/>
          </a:p>
        </p:txBody>
      </p:sp>
      <p:sp>
        <p:nvSpPr>
          <p:cNvPr id="17" name="Text 15"/>
          <p:cNvSpPr/>
          <p:nvPr/>
        </p:nvSpPr>
        <p:spPr>
          <a:xfrm>
            <a:off x="548640" y="4389120"/>
            <a:ext cx="3200400" cy="182880"/>
          </a:xfrm>
          <a:prstGeom prst="rect">
            <a:avLst/>
          </a:prstGeom>
          <a:noFill/>
          <a:ln/>
        </p:spPr>
        <p:txBody>
          <a:bodyPr wrap="square" rtlCol="0" anchor="ctr"/>
          <a:lstStyle/>
          <a:p>
            <a:pPr marL="0" indent="0">
              <a:buNone/>
            </a:pPr>
            <a:r>
              <a:rPr lang="en-US" sz="750" dirty="0">
                <a:solidFill>
                  <a:srgbClr val="8A8A9A"/>
                </a:solidFill>
              </a:rPr>
              <a:t>Lead Assessor — Ardent Security Research</a:t>
            </a:r>
            <a:endParaRPr lang="en-US" sz="750" dirty="0"/>
          </a:p>
        </p:txBody>
      </p:sp>
      <p:sp>
        <p:nvSpPr>
          <p:cNvPr id="18" name="Shape 16"/>
          <p:cNvSpPr/>
          <p:nvPr/>
        </p:nvSpPr>
        <p:spPr>
          <a:xfrm>
            <a:off x="5394960" y="4370832"/>
            <a:ext cx="3200400" cy="13716"/>
          </a:xfrm>
          <a:prstGeom prst="rect">
            <a:avLst/>
          </a:prstGeom>
          <a:solidFill>
            <a:srgbClr val="4A6080"/>
          </a:solidFill>
          <a:ln w="12700">
            <a:solidFill>
              <a:srgbClr val="4A6080"/>
            </a:solidFill>
            <a:prstDash val="solid"/>
          </a:ln>
        </p:spPr>
        <p:txBody>
          <a:bodyPr/>
          <a:lstStyle/>
          <a:p>
            <a:endParaRPr lang="en-GB"/>
          </a:p>
        </p:txBody>
      </p:sp>
      <p:sp>
        <p:nvSpPr>
          <p:cNvPr id="19" name="Text 17"/>
          <p:cNvSpPr/>
          <p:nvPr/>
        </p:nvSpPr>
        <p:spPr>
          <a:xfrm>
            <a:off x="5394960" y="4389120"/>
            <a:ext cx="3200400" cy="182880"/>
          </a:xfrm>
          <a:prstGeom prst="rect">
            <a:avLst/>
          </a:prstGeom>
          <a:noFill/>
          <a:ln/>
        </p:spPr>
        <p:txBody>
          <a:bodyPr wrap="square" rtlCol="0" anchor="ctr"/>
          <a:lstStyle/>
          <a:p>
            <a:pPr marL="0" indent="0">
              <a:buNone/>
            </a:pPr>
            <a:r>
              <a:rPr lang="en-US" sz="750" dirty="0">
                <a:solidFill>
                  <a:srgbClr val="8A8A9A"/>
                </a:solidFill>
              </a:rPr>
              <a:t>Group CISO — Vantage Capital Group plc</a:t>
            </a:r>
            <a:endParaRPr lang="en-US" sz="750" dirty="0"/>
          </a:p>
        </p:txBody>
      </p:sp>
      <p:sp>
        <p:nvSpPr>
          <p:cNvPr id="20" name="Shape 18"/>
          <p:cNvSpPr/>
          <p:nvPr/>
        </p:nvSpPr>
        <p:spPr>
          <a:xfrm>
            <a:off x="0" y="5079492"/>
            <a:ext cx="9144000" cy="64008"/>
          </a:xfrm>
          <a:prstGeom prst="rect">
            <a:avLst/>
          </a:prstGeom>
          <a:solidFill>
            <a:srgbClr val="C9952A"/>
          </a:solidFill>
          <a:ln w="12700">
            <a:solidFill>
              <a:srgbClr val="C9952A"/>
            </a:solidFill>
            <a:prstDash val="solid"/>
          </a:ln>
        </p:spPr>
        <p:txBody>
          <a:bodyPr/>
          <a:lstStyle/>
          <a:p>
            <a:endParaRPr lang="en-GB"/>
          </a:p>
        </p:txBody>
      </p:sp>
      <p:sp>
        <p:nvSpPr>
          <p:cNvPr id="21" name="Text 19"/>
          <p:cNvSpPr/>
          <p:nvPr/>
        </p:nvSpPr>
        <p:spPr>
          <a:xfrm>
            <a:off x="365760" y="4919472"/>
            <a:ext cx="8412480" cy="164592"/>
          </a:xfrm>
          <a:prstGeom prst="rect">
            <a:avLst/>
          </a:prstGeom>
          <a:noFill/>
          <a:ln/>
        </p:spPr>
        <p:txBody>
          <a:bodyPr wrap="square" rtlCol="0" anchor="ctr"/>
          <a:lstStyle/>
          <a:p>
            <a:pPr marL="0" indent="0" algn="ctr">
              <a:buNone/>
            </a:pPr>
            <a:r>
              <a:rPr lang="en-US" sz="700" dirty="0">
                <a:solidFill>
                  <a:srgbClr val="2A3045"/>
                </a:solidFill>
              </a:rPr>
              <a:t>ASR-2026-0041  ·  RESTRICTED  ·  ARDENT SECURITY RESEARCH  ·  FEBRUARY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1559</Words>
  <Application>Microsoft Office PowerPoint</Application>
  <PresentationFormat>On-screen Show (16:9)</PresentationFormat>
  <Paragraphs>286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Penetration Test Report — Vantage Capital Group</dc:title>
  <dc:subject>PptxGenJS Presentation</dc:subject>
  <dc:creator>PptxGenJS</dc:creator>
  <cp:lastModifiedBy>Bolaji Edu</cp:lastModifiedBy>
  <cp:revision>3</cp:revision>
  <dcterms:created xsi:type="dcterms:W3CDTF">2026-03-28T13:14:06Z</dcterms:created>
  <dcterms:modified xsi:type="dcterms:W3CDTF">2026-03-29T01:24:56Z</dcterms:modified>
</cp:coreProperties>
</file>